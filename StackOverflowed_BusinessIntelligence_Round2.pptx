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0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515600" cy="457200"/>
          </a:xfrm>
          <a:prstGeom prst="rect">
            <a:avLst/>
          </a:prstGeom>
          <a:noFill/>
        </p:spPr>
        <p:txBody>
          <a:bodyPr wrap="square" anchor="t">
            <a:spAutoFit/>
          </a:bodyPr>
          <a:lstStyle/>
          <a:p>
            <a:pPr algn="l">
              <a:lnSpc>
                <a:spcPct val="115000"/>
              </a:lnSpc>
            </a:pPr>
            <a:r>
              <a:rPr sz="1200" b="0" i="0">
                <a:solidFill>
                  <a:srgbClr val="D9C6F2"/>
                </a:solidFill>
                <a:latin typeface="Calibri"/>
              </a:rPr>
              <a:t>AI reinvention made real   |   Accenture Innovation Challenge 2026</a:t>
            </a:r>
          </a:p>
        </p:txBody>
      </p:sp>
      <p:sp>
        <p:nvSpPr>
          <p:cNvPr id="5" name="TextBox 4"/>
          <p:cNvSpPr txBox="1"/>
          <p:nvPr/>
        </p:nvSpPr>
        <p:spPr>
          <a:xfrm>
            <a:off x="822960" y="2468880"/>
            <a:ext cx="10515600" cy="1280160"/>
          </a:xfrm>
          <a:prstGeom prst="rect">
            <a:avLst/>
          </a:prstGeom>
          <a:noFill/>
        </p:spPr>
        <p:txBody>
          <a:bodyPr wrap="square" anchor="t">
            <a:spAutoFit/>
          </a:bodyPr>
          <a:lstStyle/>
          <a:p>
            <a:pPr algn="l">
              <a:lnSpc>
                <a:spcPct val="115000"/>
              </a:lnSpc>
            </a:pPr>
            <a:r>
              <a:rPr sz="4000" b="1" i="0">
                <a:solidFill>
                  <a:srgbClr val="FFFFFF"/>
                </a:solidFill>
                <a:latin typeface="Calibri"/>
              </a:rPr>
              <a:t>KPI Intelligence-to-Action Engine</a:t>
            </a:r>
          </a:p>
        </p:txBody>
      </p:sp>
      <p:sp>
        <p:nvSpPr>
          <p:cNvPr id="6" name="TextBox 5"/>
          <p:cNvSpPr txBox="1"/>
          <p:nvPr/>
        </p:nvSpPr>
        <p:spPr>
          <a:xfrm>
            <a:off x="822960" y="3886200"/>
            <a:ext cx="10515600" cy="1828800"/>
          </a:xfrm>
          <a:prstGeom prst="rect">
            <a:avLst/>
          </a:prstGeom>
          <a:noFill/>
        </p:spPr>
        <p:txBody>
          <a:bodyPr wrap="square" anchor="t">
            <a:spAutoFit/>
          </a:bodyPr>
          <a:lstStyle/>
          <a:p>
            <a:pPr algn="l">
              <a:lnSpc>
                <a:spcPct val="150000"/>
              </a:lnSpc>
            </a:pPr>
            <a:r>
              <a:rPr sz="1600" b="0" i="0">
                <a:solidFill>
                  <a:srgbClr val="EAD9FA"/>
                </a:solidFill>
                <a:latin typeface="Calibri"/>
              </a:rPr>
              <a:t>Round 2  —  Detailed Business Proposal</a:t>
            </a:r>
          </a:p>
          <a:p>
            <a:pPr algn="l">
              <a:lnSpc>
                <a:spcPct val="150000"/>
              </a:lnSpc>
            </a:pPr>
            <a:r>
              <a:rPr sz="1600" b="0" i="0">
                <a:solidFill>
                  <a:srgbClr val="EAD9FA"/>
                </a:solidFill>
                <a:latin typeface="Calibri"/>
              </a:rPr>
              <a:t>Track 3 : BusinessIntelligence.ai</a:t>
            </a:r>
          </a:p>
          <a:p>
            <a:pPr algn="l">
              <a:lnSpc>
                <a:spcPct val="150000"/>
              </a:lnSpc>
            </a:pPr>
            <a:r>
              <a:rPr sz="1600" b="0" i="0">
                <a:solidFill>
                  <a:srgbClr val="EAD9FA"/>
                </a:solidFill>
                <a:latin typeface="Calibri"/>
              </a:rPr>
              <a:t>Team Stack Overflowed  —  IIT Madras</a:t>
            </a:r>
          </a:p>
        </p:txBody>
      </p:sp>
      <p:sp>
        <p:nvSpPr>
          <p:cNvPr id="7" name="TextBox 6"/>
          <p:cNvSpPr txBox="1"/>
          <p:nvPr/>
        </p:nvSpPr>
        <p:spPr>
          <a:xfrm>
            <a:off x="822960" y="6126480"/>
            <a:ext cx="10515600" cy="365760"/>
          </a:xfrm>
          <a:prstGeom prst="rect">
            <a:avLst/>
          </a:prstGeom>
          <a:noFill/>
        </p:spPr>
        <p:txBody>
          <a:bodyPr wrap="square" anchor="t">
            <a:spAutoFit/>
          </a:bodyPr>
          <a:lstStyle/>
          <a:p>
            <a:pPr algn="l">
              <a:lnSpc>
                <a:spcPct val="115000"/>
              </a:lnSpc>
            </a:pPr>
            <a:r>
              <a:rPr sz="900" b="0" i="0">
                <a:solidFill>
                  <a:srgbClr val="B79AD6"/>
                </a:solidFill>
                <a:latin typeface="Calibri"/>
              </a:rPr>
              <a:t>Copyright © 2026 Accenture.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Team details</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2</a:t>
            </a:r>
          </a:p>
        </p:txBody>
      </p:sp>
      <p:graphicFrame>
        <p:nvGraphicFramePr>
          <p:cNvPr id="7" name="Table 6"/>
          <p:cNvGraphicFramePr>
            <a:graphicFrameLocks noGrp="1"/>
          </p:cNvGraphicFramePr>
          <p:nvPr/>
        </p:nvGraphicFramePr>
        <p:xfrm>
          <a:off x="640080" y="1371600"/>
          <a:ext cx="10927079" cy="2926079"/>
        </p:xfrm>
        <a:graphic>
          <a:graphicData uri="http://schemas.openxmlformats.org/drawingml/2006/table">
            <a:tbl>
              <a:tblPr firstRow="1" bandRow="1">
                <a:tableStyleId>{5C22544A-7EE6-4342-B048-85BDC9FD1C3A}</a:tableStyleId>
              </a:tblPr>
              <a:tblGrid>
                <a:gridCol w="2841040"/>
                <a:gridCol w="2185416"/>
                <a:gridCol w="3715207"/>
                <a:gridCol w="2185416"/>
              </a:tblGrid>
              <a:tr h="975359">
                <a:tc>
                  <a:txBody>
                    <a:bodyPr/>
                    <a:lstStyle/>
                    <a:p>
                      <a:r>
                        <a:rPr sz="1000" b="1">
                          <a:solidFill>
                            <a:srgbClr val="FFFFFF"/>
                          </a:solidFill>
                          <a:latin typeface="Calibri"/>
                        </a:rPr>
                        <a:t>Member</a:t>
                      </a:r>
                    </a:p>
                  </a:txBody>
                  <a:tcPr>
                    <a:solidFill>
                      <a:srgbClr val="2E0A4F"/>
                    </a:solidFill>
                  </a:tcPr>
                </a:tc>
                <a:tc>
                  <a:txBody>
                    <a:bodyPr/>
                    <a:lstStyle/>
                    <a:p>
                      <a:r>
                        <a:rPr sz="1000" b="1">
                          <a:solidFill>
                            <a:srgbClr val="FFFFFF"/>
                          </a:solidFill>
                          <a:latin typeface="Calibri"/>
                        </a:rPr>
                        <a:t>College</a:t>
                      </a:r>
                    </a:p>
                  </a:txBody>
                  <a:tcPr>
                    <a:solidFill>
                      <a:srgbClr val="2E0A4F"/>
                    </a:solidFill>
                  </a:tcPr>
                </a:tc>
                <a:tc>
                  <a:txBody>
                    <a:bodyPr/>
                    <a:lstStyle/>
                    <a:p>
                      <a:r>
                        <a:rPr sz="1000" b="1">
                          <a:solidFill>
                            <a:srgbClr val="FFFFFF"/>
                          </a:solidFill>
                          <a:latin typeface="Calibri"/>
                        </a:rPr>
                        <a:t>Stream</a:t>
                      </a:r>
                    </a:p>
                  </a:txBody>
                  <a:tcPr>
                    <a:solidFill>
                      <a:srgbClr val="2E0A4F"/>
                    </a:solidFill>
                  </a:tcPr>
                </a:tc>
                <a:tc>
                  <a:txBody>
                    <a:bodyPr/>
                    <a:lstStyle/>
                    <a:p>
                      <a:r>
                        <a:rPr sz="1000" b="1">
                          <a:solidFill>
                            <a:srgbClr val="FFFFFF"/>
                          </a:solidFill>
                          <a:latin typeface="Calibri"/>
                        </a:rPr>
                        <a:t>Graduation</a:t>
                      </a:r>
                    </a:p>
                  </a:txBody>
                  <a:tcPr>
                    <a:solidFill>
                      <a:srgbClr val="2E0A4F"/>
                    </a:solidFill>
                  </a:tcPr>
                </a:tc>
              </a:tr>
              <a:tr h="975359">
                <a:tc>
                  <a:txBody>
                    <a:bodyPr/>
                    <a:lstStyle/>
                    <a:p>
                      <a:pPr>
                        <a:lnSpc>
                          <a:spcPct val="115000"/>
                        </a:lnSpc>
                      </a:pPr>
                      <a:r>
                        <a:rPr sz="900" b="1">
                          <a:solidFill>
                            <a:srgbClr val="2E0A4F"/>
                          </a:solidFill>
                          <a:latin typeface="Calibri"/>
                        </a:rPr>
                        <a:t>Thirukailash K A</a:t>
                      </a:r>
                    </a:p>
                  </a:txBody>
                  <a:tcPr>
                    <a:solidFill>
                      <a:srgbClr val="F4EEFB"/>
                    </a:solidFill>
                  </a:tcPr>
                </a:tc>
                <a:tc>
                  <a:txBody>
                    <a:bodyPr/>
                    <a:lstStyle/>
                    <a:p>
                      <a:pPr>
                        <a:lnSpc>
                          <a:spcPct val="115000"/>
                        </a:lnSpc>
                      </a:pPr>
                      <a:r>
                        <a:rPr sz="900" b="0">
                          <a:solidFill>
                            <a:srgbClr val="1D1D1F"/>
                          </a:solidFill>
                          <a:latin typeface="Calibri"/>
                        </a:rPr>
                        <a:t>IIT Madras</a:t>
                      </a:r>
                    </a:p>
                  </a:txBody>
                  <a:tcPr>
                    <a:solidFill>
                      <a:srgbClr val="F4EEFB"/>
                    </a:solidFill>
                  </a:tcPr>
                </a:tc>
                <a:tc>
                  <a:txBody>
                    <a:bodyPr/>
                    <a:lstStyle/>
                    <a:p>
                      <a:pPr>
                        <a:lnSpc>
                          <a:spcPct val="115000"/>
                        </a:lnSpc>
                      </a:pPr>
                      <a:r>
                        <a:rPr sz="900" b="0">
                          <a:solidFill>
                            <a:srgbClr val="1D1D1F"/>
                          </a:solidFill>
                          <a:latin typeface="Calibri"/>
                        </a:rPr>
                        <a:t>Mechanical Engineering</a:t>
                      </a:r>
                    </a:p>
                  </a:txBody>
                  <a:tcPr>
                    <a:solidFill>
                      <a:srgbClr val="F4EEFB"/>
                    </a:solidFill>
                  </a:tcPr>
                </a:tc>
                <a:tc>
                  <a:txBody>
                    <a:bodyPr/>
                    <a:lstStyle/>
                    <a:p>
                      <a:pPr>
                        <a:lnSpc>
                          <a:spcPct val="115000"/>
                        </a:lnSpc>
                      </a:pPr>
                      <a:r>
                        <a:rPr sz="900" b="0">
                          <a:solidFill>
                            <a:srgbClr val="1D1D1F"/>
                          </a:solidFill>
                          <a:latin typeface="Calibri"/>
                        </a:rPr>
                        <a:t>2028</a:t>
                      </a:r>
                    </a:p>
                  </a:txBody>
                  <a:tcPr>
                    <a:solidFill>
                      <a:srgbClr val="F4EEFB"/>
                    </a:solidFill>
                  </a:tcPr>
                </a:tc>
              </a:tr>
              <a:tr h="975361">
                <a:tc>
                  <a:txBody>
                    <a:bodyPr/>
                    <a:lstStyle/>
                    <a:p>
                      <a:pPr>
                        <a:lnSpc>
                          <a:spcPct val="115000"/>
                        </a:lnSpc>
                      </a:pPr>
                      <a:r>
                        <a:rPr sz="900" b="1">
                          <a:solidFill>
                            <a:srgbClr val="2E0A4F"/>
                          </a:solidFill>
                          <a:latin typeface="Calibri"/>
                        </a:rPr>
                        <a:t>Sivasubramanian S</a:t>
                      </a:r>
                    </a:p>
                  </a:txBody>
                  <a:tcPr>
                    <a:solidFill>
                      <a:srgbClr val="FFFFFF"/>
                    </a:solidFill>
                  </a:tcPr>
                </a:tc>
                <a:tc>
                  <a:txBody>
                    <a:bodyPr/>
                    <a:lstStyle/>
                    <a:p>
                      <a:pPr>
                        <a:lnSpc>
                          <a:spcPct val="115000"/>
                        </a:lnSpc>
                      </a:pPr>
                      <a:r>
                        <a:rPr sz="900" b="0">
                          <a:solidFill>
                            <a:srgbClr val="1D1D1F"/>
                          </a:solidFill>
                          <a:latin typeface="Calibri"/>
                        </a:rPr>
                        <a:t>IIT Madras</a:t>
                      </a:r>
                    </a:p>
                  </a:txBody>
                  <a:tcPr>
                    <a:solidFill>
                      <a:srgbClr val="FFFFFF"/>
                    </a:solidFill>
                  </a:tcPr>
                </a:tc>
                <a:tc>
                  <a:txBody>
                    <a:bodyPr/>
                    <a:lstStyle/>
                    <a:p>
                      <a:pPr>
                        <a:lnSpc>
                          <a:spcPct val="115000"/>
                        </a:lnSpc>
                      </a:pPr>
                      <a:r>
                        <a:rPr sz="900" b="0">
                          <a:solidFill>
                            <a:srgbClr val="1D1D1F"/>
                          </a:solidFill>
                          <a:latin typeface="Calibri"/>
                        </a:rPr>
                        <a:t>Material Science and Metallurgy</a:t>
                      </a:r>
                    </a:p>
                  </a:txBody>
                  <a:tcPr>
                    <a:solidFill>
                      <a:srgbClr val="FFFFFF"/>
                    </a:solidFill>
                  </a:tcPr>
                </a:tc>
                <a:tc>
                  <a:txBody>
                    <a:bodyPr/>
                    <a:lstStyle/>
                    <a:p>
                      <a:pPr>
                        <a:lnSpc>
                          <a:spcPct val="115000"/>
                        </a:lnSpc>
                      </a:pPr>
                      <a:r>
                        <a:rPr sz="900" b="0">
                          <a:solidFill>
                            <a:srgbClr val="1D1D1F"/>
                          </a:solidFill>
                          <a:latin typeface="Calibri"/>
                        </a:rPr>
                        <a:t>2028</a:t>
                      </a:r>
                    </a:p>
                  </a:txBody>
                  <a:tcPr>
                    <a:solidFill>
                      <a:srgbClr val="FFFFFF"/>
                    </a:solidFill>
                  </a:tcPr>
                </a:tc>
              </a:tr>
            </a:tbl>
          </a:graphicData>
        </a:graphic>
      </p:graphicFrame>
      <p:sp>
        <p:nvSpPr>
          <p:cNvPr id="8" name="TextBox 7"/>
          <p:cNvSpPr txBox="1"/>
          <p:nvPr/>
        </p:nvSpPr>
        <p:spPr>
          <a:xfrm>
            <a:off x="640080" y="4389119"/>
            <a:ext cx="10927080" cy="365760"/>
          </a:xfrm>
          <a:prstGeom prst="rect">
            <a:avLst/>
          </a:prstGeom>
          <a:noFill/>
        </p:spPr>
        <p:txBody>
          <a:bodyPr wrap="square" anchor="t">
            <a:spAutoFit/>
          </a:bodyPr>
          <a:lstStyle/>
          <a:p>
            <a:pPr algn="l">
              <a:lnSpc>
                <a:spcPct val="115000"/>
              </a:lnSpc>
            </a:pPr>
            <a:r>
              <a:rPr sz="900" b="0" i="1">
                <a:solidFill>
                  <a:srgbClr val="5B5B60"/>
                </a:solidFill>
                <a:latin typeface="Calibri"/>
              </a:rPr>
              <a:t>Team name:  Stack Overflowed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Describe the problem statement</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3</a:t>
            </a:r>
          </a:p>
        </p:txBody>
      </p:sp>
      <p:sp>
        <p:nvSpPr>
          <p:cNvPr id="7" name="TextBox 6"/>
          <p:cNvSpPr txBox="1"/>
          <p:nvPr/>
        </p:nvSpPr>
        <p:spPr>
          <a:xfrm>
            <a:off x="8686800" y="502920"/>
            <a:ext cx="3017520" cy="457200"/>
          </a:xfrm>
          <a:prstGeom prst="rect">
            <a:avLst/>
          </a:prstGeom>
          <a:noFill/>
        </p:spPr>
        <p:txBody>
          <a:bodyPr wrap="square" anchor="t">
            <a:spAutoFit/>
          </a:bodyPr>
          <a:lstStyle/>
          <a:p>
            <a:pPr algn="r">
              <a:lnSpc>
                <a:spcPct val="115000"/>
              </a:lnSpc>
            </a:pPr>
            <a:r>
              <a:rPr sz="1100" b="0" i="1">
                <a:solidFill>
                  <a:srgbClr val="A100FF"/>
                </a:solidFill>
                <a:latin typeface="Calibri"/>
              </a:rPr>
              <a:t>200 words</a:t>
            </a:r>
          </a:p>
        </p:txBody>
      </p:sp>
      <p:sp>
        <p:nvSpPr>
          <p:cNvPr id="8" name="TextBox 7"/>
          <p:cNvSpPr txBox="1"/>
          <p:nvPr/>
        </p:nvSpPr>
        <p:spPr>
          <a:xfrm>
            <a:off x="731520" y="1371600"/>
            <a:ext cx="10881360" cy="4754880"/>
          </a:xfrm>
          <a:prstGeom prst="rect">
            <a:avLst/>
          </a:prstGeom>
          <a:noFill/>
        </p:spPr>
        <p:txBody>
          <a:bodyPr wrap="square" anchor="t">
            <a:spAutoFit/>
          </a:bodyPr>
          <a:lstStyle/>
          <a:p>
            <a:pPr algn="l">
              <a:lnSpc>
                <a:spcPct val="145000"/>
              </a:lnSpc>
            </a:pPr>
            <a:r>
              <a:rPr sz="1300" b="0" i="0">
                <a:solidFill>
                  <a:srgbClr val="1D1D1F"/>
                </a:solidFill>
                <a:latin typeface="Calibri"/>
              </a:rPr>
              <a:t>A dashboard can show that revenue dropped eight percent in a region, but it usually does not explain why it happened or what the business should do next. Finding the reason often requires an analyst to manually check sales, inventory, pricing, customer feedback, and other data from different systems. This can take days, and by the time the cause is found, it may already be too late to act.</a:t>
            </a:r>
          </a:p>
          <a:p>
            <a:pPr algn="l">
              <a:lnSpc>
                <a:spcPct val="145000"/>
              </a:lnSpc>
            </a:pPr>
            <a:r>
              <a:rPr sz="1300" b="0" i="0">
                <a:solidFill>
                  <a:srgbClr val="1D1D1F"/>
                </a:solidFill>
                <a:latin typeface="Calibri"/>
              </a:rPr>
              <a:t/>
            </a:r>
          </a:p>
          <a:p>
            <a:pPr algn="l">
              <a:lnSpc>
                <a:spcPct val="145000"/>
              </a:lnSpc>
            </a:pPr>
            <a:r>
              <a:rPr sz="1300" b="0" i="0">
                <a:solidFill>
                  <a:srgbClr val="1D1D1F"/>
                </a:solidFill>
                <a:latin typeface="Calibri"/>
              </a:rPr>
              <a:t>The main problem is that business data is spread across different sources. Numbers like revenue and inventory are stored as structured data, while useful context is hidden in support tickets, emails, and customer reviews. There is also no easy way to tell whether a change in a metric is a real business problem or just normal day-to-day fluctuation.</a:t>
            </a:r>
          </a:p>
          <a:p>
            <a:pPr algn="l">
              <a:lnSpc>
                <a:spcPct val="145000"/>
              </a:lnSpc>
            </a:pPr>
            <a:r>
              <a:rPr sz="1300" b="0" i="0">
                <a:solidFill>
                  <a:srgbClr val="1D1D1F"/>
                </a:solidFill>
                <a:latin typeface="Calibri"/>
              </a:rPr>
              <a:t/>
            </a:r>
          </a:p>
          <a:p>
            <a:pPr algn="l">
              <a:lnSpc>
                <a:spcPct val="145000"/>
              </a:lnSpc>
            </a:pPr>
            <a:r>
              <a:rPr sz="1300" b="0" i="0">
                <a:solidFill>
                  <a:srgbClr val="1D1D1F"/>
                </a:solidFill>
                <a:latin typeface="Calibri"/>
              </a:rPr>
              <a:t>Because of this, businesses can either react too late or focus on the wrong problem. What they need is a system that can automatically connect different types of data, identify meaningful changes, find their likely causes, and suggest what action to take.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Proposed solution</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4</a:t>
            </a:r>
          </a:p>
        </p:txBody>
      </p:sp>
      <p:sp>
        <p:nvSpPr>
          <p:cNvPr id="7" name="TextBox 6"/>
          <p:cNvSpPr txBox="1"/>
          <p:nvPr/>
        </p:nvSpPr>
        <p:spPr>
          <a:xfrm>
            <a:off x="8686800" y="502920"/>
            <a:ext cx="3017520" cy="457200"/>
          </a:xfrm>
          <a:prstGeom prst="rect">
            <a:avLst/>
          </a:prstGeom>
          <a:noFill/>
        </p:spPr>
        <p:txBody>
          <a:bodyPr wrap="square" anchor="t">
            <a:spAutoFit/>
          </a:bodyPr>
          <a:lstStyle/>
          <a:p>
            <a:pPr algn="r">
              <a:lnSpc>
                <a:spcPct val="115000"/>
              </a:lnSpc>
            </a:pPr>
            <a:r>
              <a:rPr sz="1100" b="0" i="1">
                <a:solidFill>
                  <a:srgbClr val="A100FF"/>
                </a:solidFill>
                <a:latin typeface="Calibri"/>
              </a:rPr>
              <a:t>200 words</a:t>
            </a:r>
          </a:p>
        </p:txBody>
      </p:sp>
      <p:sp>
        <p:nvSpPr>
          <p:cNvPr id="8" name="TextBox 7"/>
          <p:cNvSpPr txBox="1"/>
          <p:nvPr/>
        </p:nvSpPr>
        <p:spPr>
          <a:xfrm>
            <a:off x="731520" y="1371600"/>
            <a:ext cx="10881360" cy="4754880"/>
          </a:xfrm>
          <a:prstGeom prst="rect">
            <a:avLst/>
          </a:prstGeom>
          <a:noFill/>
        </p:spPr>
        <p:txBody>
          <a:bodyPr wrap="square" anchor="t">
            <a:spAutoFit/>
          </a:bodyPr>
          <a:lstStyle/>
          <a:p>
            <a:pPr algn="l">
              <a:lnSpc>
                <a:spcPct val="145000"/>
              </a:lnSpc>
            </a:pPr>
            <a:r>
              <a:rPr sz="1300" b="0" i="0">
                <a:solidFill>
                  <a:srgbClr val="1D1D1F"/>
                </a:solidFill>
                <a:latin typeface="Calibri"/>
              </a:rPr>
              <a:t>Our proposed solution treats every KPI's history as a baseline, using a seasonally adjusted rolling average to define what “normal” looks like for that metric. This means any new value gets checked against an expected range instead of a fixed rule, so everyday fluctuation doesn't get mistaken for a real problem.</a:t>
            </a:r>
          </a:p>
          <a:p>
            <a:pPr algn="l">
              <a:lnSpc>
                <a:spcPct val="145000"/>
              </a:lnSpc>
            </a:pPr>
            <a:r>
              <a:rPr sz="1300" b="0" i="0">
                <a:solidFill>
                  <a:srgbClr val="1D1D1F"/>
                </a:solidFill>
                <a:latin typeface="Calibri"/>
              </a:rPr>
              <a:t/>
            </a:r>
          </a:p>
          <a:p>
            <a:pPr algn="l">
              <a:lnSpc>
                <a:spcPct val="145000"/>
              </a:lnSpc>
            </a:pPr>
            <a:r>
              <a:rPr sz="1300" b="0" i="0">
                <a:solidFill>
                  <a:srgbClr val="1D1D1F"/>
                </a:solidFill>
                <a:latin typeface="Calibri"/>
              </a:rPr>
              <a:t>When a value falls outside that range, the engine uses the details of that moment — the metric, the region, the time window — as an anchor to investigate. It runs targeted SQL queries against structured data like inventory and pricing for that same time and region, and separately searches unstructured sources like support tickets and emails by traversing a knowledge graph of business entities (regions, warehouses, products), so it can surface a support ticket connected to the anomaly even if the wording never mentions the region or metric directly.</a:t>
            </a:r>
          </a:p>
          <a:p>
            <a:pPr algn="l">
              <a:lnSpc>
                <a:spcPct val="145000"/>
              </a:lnSpc>
            </a:pPr>
            <a:r>
              <a:rPr sz="1300" b="0" i="0">
                <a:solidFill>
                  <a:srgbClr val="1D1D1F"/>
                </a:solidFill>
                <a:latin typeface="Calibri"/>
              </a:rPr>
              <a:t/>
            </a:r>
          </a:p>
          <a:p>
            <a:pPr algn="l">
              <a:lnSpc>
                <a:spcPct val="145000"/>
              </a:lnSpc>
            </a:pPr>
            <a:r>
              <a:rPr sz="1300" b="0" i="0">
                <a:solidFill>
                  <a:srgbClr val="1D1D1F"/>
                </a:solidFill>
                <a:latin typeface="Calibri"/>
              </a:rPr>
              <a:t>Every piece of evidence is checked before it is trusted: whether it happened before the anomaly, since a cause must precede its effect, and whether it is genuinely relevant, not just structurally nearby in the graph. An AI reasoning step then combines whatever survives into a ranked list of likely causes with confidence levels and a recommended action; if nothing survives with enough confidence, the system reports the cause as unclear instead of guessing.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Solution design : deterministic first, language model last</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5</a:t>
            </a:r>
          </a:p>
        </p:txBody>
      </p:sp>
      <p:sp>
        <p:nvSpPr>
          <p:cNvPr id="7" name="TextBox 6"/>
          <p:cNvSpPr txBox="1"/>
          <p:nvPr/>
        </p:nvSpPr>
        <p:spPr>
          <a:xfrm>
            <a:off x="731520" y="1325880"/>
            <a:ext cx="10881360" cy="4572000"/>
          </a:xfrm>
          <a:prstGeom prst="rect">
            <a:avLst/>
          </a:prstGeom>
          <a:noFill/>
        </p:spPr>
        <p:txBody>
          <a:bodyPr wrap="square">
            <a:spAutoFit/>
          </a:bodyPr>
          <a:lstStyle/>
          <a:p>
            <a:pPr>
              <a:lnSpc>
                <a:spcPct val="130000"/>
              </a:lnSpc>
              <a:spcAft>
                <a:spcPts val="800"/>
              </a:spcAft>
            </a:pPr>
            <a:r>
              <a:rPr sz="1300" b="1">
                <a:solidFill>
                  <a:srgbClr val="A100FF"/>
                </a:solidFill>
              </a:rPr>
              <a:t>•  </a:t>
            </a:r>
            <a:r>
              <a:rPr sz="1250">
                <a:solidFill>
                  <a:srgbClr val="1D1D1F"/>
                </a:solidFill>
                <a:latin typeface="Calibri"/>
              </a:rPr>
              <a:t>Every quantitative claim is computed by deterministic analytics — SQL, statistics, business rules. The language model only words the narrative, and every response records which parts were computed and which were phrased.</a:t>
            </a:r>
          </a:p>
          <a:p>
            <a:pPr>
              <a:lnSpc>
                <a:spcPct val="130000"/>
              </a:lnSpc>
              <a:spcAft>
                <a:spcPts val="800"/>
              </a:spcAft>
            </a:pPr>
            <a:r>
              <a:rPr sz="1300" b="1">
                <a:solidFill>
                  <a:srgbClr val="A100FF"/>
                </a:solidFill>
              </a:rPr>
              <a:t>•  </a:t>
            </a:r>
            <a:r>
              <a:rPr sz="1250">
                <a:solidFill>
                  <a:srgbClr val="1D1D1F"/>
                </a:solidFill>
                <a:latin typeface="Calibri"/>
              </a:rPr>
              <a:t>Detection uses two independent signals: a rolling, seasonally adjusted z-score against an eight-period baseline, and an evidence-driven signal that lets support tickets and reviews raise a movement on their own. A period flagged by neither is never admitted.</a:t>
            </a:r>
          </a:p>
          <a:p>
            <a:pPr>
              <a:lnSpc>
                <a:spcPct val="130000"/>
              </a:lnSpc>
              <a:spcAft>
                <a:spcPts val="800"/>
              </a:spcAft>
            </a:pPr>
            <a:r>
              <a:rPr sz="1300" b="1">
                <a:solidFill>
                  <a:srgbClr val="A100FF"/>
                </a:solidFill>
              </a:rPr>
              <a:t>•  </a:t>
            </a:r>
            <a:r>
              <a:rPr sz="1250">
                <a:solidFill>
                  <a:srgbClr val="1D1D1F"/>
                </a:solidFill>
                <a:latin typeface="Calibri"/>
              </a:rPr>
              <a:t>Driver ranking uses a deterministic Price-Volume-Mix decomposition for revenue, scoped to the affected item and region so the parts reconcile to the movement exactly.</a:t>
            </a:r>
          </a:p>
          <a:p>
            <a:pPr>
              <a:lnSpc>
                <a:spcPct val="130000"/>
              </a:lnSpc>
              <a:spcAft>
                <a:spcPts val="800"/>
              </a:spcAft>
            </a:pPr>
            <a:r>
              <a:rPr sz="1300" b="1">
                <a:solidFill>
                  <a:srgbClr val="A100FF"/>
                </a:solidFill>
              </a:rPr>
              <a:t>•  </a:t>
            </a:r>
            <a:r>
              <a:rPr sz="1250">
                <a:solidFill>
                  <a:srgbClr val="1D1D1F"/>
                </a:solidFill>
                <a:latin typeface="Calibri"/>
              </a:rPr>
              <a:t>Evidence combines structured supply and marketing rows with an anomaly-centric knowledge graph; every item is checked for temporal precedence and genuine relevance before it is trusted.</a:t>
            </a:r>
          </a:p>
          <a:p>
            <a:pPr>
              <a:lnSpc>
                <a:spcPct val="130000"/>
              </a:lnSpc>
              <a:spcAft>
                <a:spcPts val="800"/>
              </a:spcAft>
            </a:pPr>
            <a:r>
              <a:rPr sz="1300" b="1">
                <a:solidFill>
                  <a:srgbClr val="A100FF"/>
                </a:solidFill>
              </a:rPr>
              <a:t>•  </a:t>
            </a:r>
            <a:r>
              <a:rPr sz="1250">
                <a:solidFill>
                  <a:srgbClr val="1D1D1F"/>
                </a:solidFill>
                <a:latin typeface="Calibri"/>
              </a:rPr>
              <a:t>A deterministic abstention gate withholds a cause on low confidence, on contradiction, or on a material movement with no isolable driver — no model call.</a:t>
            </a:r>
          </a:p>
          <a:p>
            <a:pPr>
              <a:lnSpc>
                <a:spcPct val="130000"/>
              </a:lnSpc>
              <a:spcAft>
                <a:spcPts val="800"/>
              </a:spcAft>
            </a:pPr>
            <a:r>
              <a:rPr sz="1300" b="1">
                <a:solidFill>
                  <a:srgbClr val="A100FF"/>
                </a:solidFill>
              </a:rPr>
              <a:t>•  </a:t>
            </a:r>
            <a:r>
              <a:rPr sz="1250">
                <a:solidFill>
                  <a:srgbClr val="1D1D1F"/>
                </a:solidFill>
                <a:latin typeface="Calibri"/>
              </a:rPr>
              <a:t>A semantic contract fixes every KPI formula, threshold, lineage and access rule; role-based masking is enforced on the server before any response leaves the API.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Target users</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6</a:t>
            </a:r>
          </a:p>
        </p:txBody>
      </p:sp>
      <p:graphicFrame>
        <p:nvGraphicFramePr>
          <p:cNvPr id="7" name="Table 6"/>
          <p:cNvGraphicFramePr>
            <a:graphicFrameLocks noGrp="1"/>
          </p:cNvGraphicFramePr>
          <p:nvPr/>
        </p:nvGraphicFramePr>
        <p:xfrm>
          <a:off x="640080" y="1371600"/>
          <a:ext cx="10927078" cy="3977639"/>
        </p:xfrm>
        <a:graphic>
          <a:graphicData uri="http://schemas.openxmlformats.org/drawingml/2006/table">
            <a:tbl>
              <a:tblPr firstRow="1" bandRow="1">
                <a:tableStyleId>{5C22544A-7EE6-4342-B048-85BDC9FD1C3A}</a:tableStyleId>
              </a:tblPr>
              <a:tblGrid>
                <a:gridCol w="2185416"/>
                <a:gridCol w="2403957"/>
                <a:gridCol w="3059582"/>
                <a:gridCol w="3278123"/>
              </a:tblGrid>
              <a:tr h="994409">
                <a:tc>
                  <a:txBody>
                    <a:bodyPr/>
                    <a:lstStyle/>
                    <a:p>
                      <a:r>
                        <a:rPr sz="1000" b="1">
                          <a:solidFill>
                            <a:srgbClr val="FFFFFF"/>
                          </a:solidFill>
                          <a:latin typeface="Calibri"/>
                        </a:rPr>
                        <a:t>Persona</a:t>
                      </a:r>
                    </a:p>
                  </a:txBody>
                  <a:tcPr>
                    <a:solidFill>
                      <a:srgbClr val="2E0A4F"/>
                    </a:solidFill>
                  </a:tcPr>
                </a:tc>
                <a:tc>
                  <a:txBody>
                    <a:bodyPr/>
                    <a:lstStyle/>
                    <a:p>
                      <a:r>
                        <a:rPr sz="1000" b="1">
                          <a:solidFill>
                            <a:srgbClr val="FFFFFF"/>
                          </a:solidFill>
                          <a:latin typeface="Calibri"/>
                        </a:rPr>
                        <a:t>Objective</a:t>
                      </a:r>
                    </a:p>
                  </a:txBody>
                  <a:tcPr>
                    <a:solidFill>
                      <a:srgbClr val="2E0A4F"/>
                    </a:solidFill>
                  </a:tcPr>
                </a:tc>
                <a:tc>
                  <a:txBody>
                    <a:bodyPr/>
                    <a:lstStyle/>
                    <a:p>
                      <a:r>
                        <a:rPr sz="1000" b="1">
                          <a:solidFill>
                            <a:srgbClr val="FFFFFF"/>
                          </a:solidFill>
                          <a:latin typeface="Calibri"/>
                        </a:rPr>
                        <a:t>Decision rights</a:t>
                      </a:r>
                    </a:p>
                  </a:txBody>
                  <a:tcPr>
                    <a:solidFill>
                      <a:srgbClr val="2E0A4F"/>
                    </a:solidFill>
                  </a:tcPr>
                </a:tc>
                <a:tc>
                  <a:txBody>
                    <a:bodyPr/>
                    <a:lstStyle/>
                    <a:p>
                      <a:r>
                        <a:rPr sz="1000" b="1">
                          <a:solidFill>
                            <a:srgbClr val="FFFFFF"/>
                          </a:solidFill>
                          <a:latin typeface="Calibri"/>
                        </a:rPr>
                        <a:t>What the engine delivers</a:t>
                      </a:r>
                    </a:p>
                  </a:txBody>
                  <a:tcPr>
                    <a:solidFill>
                      <a:srgbClr val="2E0A4F"/>
                    </a:solidFill>
                  </a:tcPr>
                </a:tc>
              </a:tr>
              <a:tr h="994409">
                <a:tc>
                  <a:txBody>
                    <a:bodyPr/>
                    <a:lstStyle/>
                    <a:p>
                      <a:pPr>
                        <a:lnSpc>
                          <a:spcPct val="115000"/>
                        </a:lnSpc>
                      </a:pPr>
                      <a:r>
                        <a:rPr sz="900" b="1">
                          <a:solidFill>
                            <a:srgbClr val="2E0A4F"/>
                          </a:solidFill>
                          <a:latin typeface="Calibri"/>
                        </a:rPr>
                        <a:t>VP of Retail Sales</a:t>
                      </a:r>
                    </a:p>
                    <a:p>
                      <a:r>
                        <a:t>(executive)</a:t>
                      </a:r>
                    </a:p>
                  </a:txBody>
                  <a:tcPr>
                    <a:solidFill>
                      <a:srgbClr val="F4EEFB"/>
                    </a:solidFill>
                  </a:tcPr>
                </a:tc>
                <a:tc>
                  <a:txBody>
                    <a:bodyPr/>
                    <a:lstStyle/>
                    <a:p>
                      <a:pPr>
                        <a:lnSpc>
                          <a:spcPct val="115000"/>
                        </a:lnSpc>
                      </a:pPr>
                      <a:r>
                        <a:rPr sz="900" b="0">
                          <a:solidFill>
                            <a:srgbClr val="1D1D1F"/>
                          </a:solidFill>
                          <a:latin typeface="Calibri"/>
                        </a:rPr>
                        <a:t>Maximise regional revenue and gross margin</a:t>
                      </a:r>
                    </a:p>
                  </a:txBody>
                  <a:tcPr>
                    <a:solidFill>
                      <a:srgbClr val="F4EEFB"/>
                    </a:solidFill>
                  </a:tcPr>
                </a:tc>
                <a:tc>
                  <a:txBody>
                    <a:bodyPr/>
                    <a:lstStyle/>
                    <a:p>
                      <a:pPr>
                        <a:lnSpc>
                          <a:spcPct val="115000"/>
                        </a:lnSpc>
                      </a:pPr>
                      <a:r>
                        <a:rPr sz="900" b="0">
                          <a:solidFill>
                            <a:srgbClr val="1D1D1F"/>
                          </a:solidFill>
                          <a:latin typeface="Calibri"/>
                        </a:rPr>
                        <a:t>Authorise pricing promotions; reallocate marketing budget; initiate supplier renegotiation</a:t>
                      </a:r>
                    </a:p>
                  </a:txBody>
                  <a:tcPr>
                    <a:solidFill>
                      <a:srgbClr val="F4EEFB"/>
                    </a:solidFill>
                  </a:tcPr>
                </a:tc>
                <a:tc>
                  <a:txBody>
                    <a:bodyPr/>
                    <a:lstStyle/>
                    <a:p>
                      <a:pPr>
                        <a:lnSpc>
                          <a:spcPct val="115000"/>
                        </a:lnSpc>
                      </a:pPr>
                      <a:r>
                        <a:rPr sz="900" b="0">
                          <a:solidFill>
                            <a:srgbClr val="1D1D1F"/>
                          </a:solidFill>
                          <a:latin typeface="Calibri"/>
                        </a:rPr>
                        <a:t>250-word executive summary; price / volume / mix framing; one high-level action with a named owner and a monitoring plan</a:t>
                      </a:r>
                    </a:p>
                  </a:txBody>
                  <a:tcPr>
                    <a:solidFill>
                      <a:srgbClr val="F4EEFB"/>
                    </a:solidFill>
                  </a:tcPr>
                </a:tc>
              </a:tr>
              <a:tr h="994409">
                <a:tc>
                  <a:txBody>
                    <a:bodyPr/>
                    <a:lstStyle/>
                    <a:p>
                      <a:pPr>
                        <a:lnSpc>
                          <a:spcPct val="115000"/>
                        </a:lnSpc>
                      </a:pPr>
                      <a:r>
                        <a:rPr sz="900" b="1">
                          <a:solidFill>
                            <a:srgbClr val="2E0A4F"/>
                          </a:solidFill>
                          <a:latin typeface="Calibri"/>
                        </a:rPr>
                        <a:t>Regional Supply Chain Planner (analyst)</a:t>
                      </a:r>
                    </a:p>
                  </a:txBody>
                  <a:tcPr>
                    <a:solidFill>
                      <a:srgbClr val="FFFFFF"/>
                    </a:solidFill>
                  </a:tcPr>
                </a:tc>
                <a:tc>
                  <a:txBody>
                    <a:bodyPr/>
                    <a:lstStyle/>
                    <a:p>
                      <a:pPr>
                        <a:lnSpc>
                          <a:spcPct val="115000"/>
                        </a:lnSpc>
                      </a:pPr>
                      <a:r>
                        <a:rPr sz="900" b="0">
                          <a:solidFill>
                            <a:srgbClr val="1D1D1F"/>
                          </a:solidFill>
                          <a:latin typeface="Calibri"/>
                        </a:rPr>
                        <a:t>Optimal inventory turnover; zero stockouts</a:t>
                      </a:r>
                    </a:p>
                  </a:txBody>
                  <a:tcPr>
                    <a:solidFill>
                      <a:srgbClr val="FFFFFF"/>
                    </a:solidFill>
                  </a:tcPr>
                </a:tc>
                <a:tc>
                  <a:txBody>
                    <a:bodyPr/>
                    <a:lstStyle/>
                    <a:p>
                      <a:pPr>
                        <a:lnSpc>
                          <a:spcPct val="115000"/>
                        </a:lnSpc>
                      </a:pPr>
                      <a:r>
                        <a:rPr sz="900" b="0">
                          <a:solidFill>
                            <a:srgbClr val="1D1D1F"/>
                          </a:solidFill>
                          <a:latin typeface="Calibri"/>
                        </a:rPr>
                        <a:t>Trigger supplier reorders; approve inter-warehouse transfers; flag lead-time violations</a:t>
                      </a:r>
                    </a:p>
                  </a:txBody>
                  <a:tcPr>
                    <a:solidFill>
                      <a:srgbClr val="FFFFFF"/>
                    </a:solidFill>
                  </a:tcPr>
                </a:tc>
                <a:tc>
                  <a:txBody>
                    <a:bodyPr/>
                    <a:lstStyle/>
                    <a:p>
                      <a:pPr>
                        <a:lnSpc>
                          <a:spcPct val="115000"/>
                        </a:lnSpc>
                      </a:pPr>
                      <a:r>
                        <a:rPr sz="900" b="0">
                          <a:solidFill>
                            <a:srgbClr val="1D1D1F"/>
                          </a:solidFill>
                          <a:latin typeface="Calibri"/>
                        </a:rPr>
                        <a:t>400-word operational report; SKU, warehouse and carrier detail; data-freshness notes; a quantitative reorder action</a:t>
                      </a:r>
                    </a:p>
                  </a:txBody>
                  <a:tcPr>
                    <a:solidFill>
                      <a:srgbClr val="FFFFFF"/>
                    </a:solidFill>
                  </a:tcPr>
                </a:tc>
              </a:tr>
              <a:tr h="994412">
                <a:tc>
                  <a:txBody>
                    <a:bodyPr/>
                    <a:lstStyle/>
                    <a:p>
                      <a:pPr>
                        <a:lnSpc>
                          <a:spcPct val="115000"/>
                        </a:lnSpc>
                      </a:pPr>
                      <a:r>
                        <a:rPr sz="900" b="1">
                          <a:solidFill>
                            <a:srgbClr val="2E0A4F"/>
                          </a:solidFill>
                          <a:latin typeface="Calibri"/>
                        </a:rPr>
                        <a:t>Data Governance and Compliance</a:t>
                      </a:r>
                    </a:p>
                  </a:txBody>
                  <a:tcPr>
                    <a:solidFill>
                      <a:srgbClr val="F4EEFB"/>
                    </a:solidFill>
                  </a:tcPr>
                </a:tc>
                <a:tc>
                  <a:txBody>
                    <a:bodyPr/>
                    <a:lstStyle/>
                    <a:p>
                      <a:pPr>
                        <a:lnSpc>
                          <a:spcPct val="115000"/>
                        </a:lnSpc>
                      </a:pPr>
                      <a:r>
                        <a:rPr sz="900" b="0">
                          <a:solidFill>
                            <a:srgbClr val="1D1D1F"/>
                          </a:solidFill>
                          <a:latin typeface="Calibri"/>
                        </a:rPr>
                        <a:t>Verify masking; audit decisions</a:t>
                      </a:r>
                    </a:p>
                  </a:txBody>
                  <a:tcPr>
                    <a:solidFill>
                      <a:srgbClr val="F4EEFB"/>
                    </a:solidFill>
                  </a:tcPr>
                </a:tc>
                <a:tc>
                  <a:txBody>
                    <a:bodyPr/>
                    <a:lstStyle/>
                    <a:p>
                      <a:pPr>
                        <a:lnSpc>
                          <a:spcPct val="115000"/>
                        </a:lnSpc>
                      </a:pPr>
                      <a:r>
                        <a:rPr sz="900" b="0">
                          <a:solidFill>
                            <a:srgbClr val="1D1D1F"/>
                          </a:solidFill>
                          <a:latin typeface="Calibri"/>
                        </a:rPr>
                        <a:t>Full read access, granted through the entitlements model</a:t>
                      </a:r>
                    </a:p>
                  </a:txBody>
                  <a:tcPr>
                    <a:solidFill>
                      <a:srgbClr val="F4EEFB"/>
                    </a:solidFill>
                  </a:tcPr>
                </a:tc>
                <a:tc>
                  <a:txBody>
                    <a:bodyPr/>
                    <a:lstStyle/>
                    <a:p>
                      <a:pPr>
                        <a:lnSpc>
                          <a:spcPct val="115000"/>
                        </a:lnSpc>
                      </a:pPr>
                      <a:r>
                        <a:rPr sz="900" b="0">
                          <a:solidFill>
                            <a:srgbClr val="1D1D1F"/>
                          </a:solidFill>
                          <a:latin typeface="Calibri"/>
                        </a:rPr>
                        <a:t>Unredacted ground truth for comparison; abstention and data-quality caveats stated explicitly</a:t>
                      </a:r>
                    </a:p>
                  </a:txBody>
                  <a:tcPr>
                    <a:solidFill>
                      <a:srgbClr val="F4EEF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Business case and impact</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7</a:t>
            </a:r>
          </a:p>
        </p:txBody>
      </p:sp>
      <p:sp>
        <p:nvSpPr>
          <p:cNvPr id="7" name="TextBox 6"/>
          <p:cNvSpPr txBox="1"/>
          <p:nvPr/>
        </p:nvSpPr>
        <p:spPr>
          <a:xfrm>
            <a:off x="731520" y="1325880"/>
            <a:ext cx="10881360" cy="4572000"/>
          </a:xfrm>
          <a:prstGeom prst="rect">
            <a:avLst/>
          </a:prstGeom>
          <a:noFill/>
        </p:spPr>
        <p:txBody>
          <a:bodyPr wrap="square">
            <a:spAutoFit/>
          </a:bodyPr>
          <a:lstStyle/>
          <a:p>
            <a:pPr>
              <a:lnSpc>
                <a:spcPct val="130000"/>
              </a:lnSpc>
              <a:spcAft>
                <a:spcPts val="800"/>
              </a:spcAft>
            </a:pPr>
            <a:r>
              <a:rPr sz="1300" b="1">
                <a:solidFill>
                  <a:srgbClr val="A100FF"/>
                </a:solidFill>
              </a:rPr>
              <a:t>•  </a:t>
            </a:r>
            <a:r>
              <a:rPr sz="1250">
                <a:solidFill>
                  <a:srgbClr val="1D1D1F"/>
                </a:solidFill>
                <a:latin typeface="Calibri"/>
              </a:rPr>
              <a:t>Analyst time recovered : a material movement that takes three to four hours to investigate across systems is returned as a cited first draft in seconds.</a:t>
            </a:r>
          </a:p>
          <a:p>
            <a:pPr>
              <a:lnSpc>
                <a:spcPct val="130000"/>
              </a:lnSpc>
              <a:spcAft>
                <a:spcPts val="800"/>
              </a:spcAft>
            </a:pPr>
            <a:r>
              <a:rPr sz="1300" b="1">
                <a:solidFill>
                  <a:srgbClr val="A100FF"/>
                </a:solidFill>
              </a:rPr>
              <a:t>•  </a:t>
            </a:r>
            <a:r>
              <a:rPr sz="1250">
                <a:solidFill>
                  <a:srgbClr val="1D1D1F"/>
                </a:solidFill>
                <a:latin typeface="Calibri"/>
              </a:rPr>
              <a:t>Faster corrective action : reducing mean time to explanation from about five business days to under one day recovers a large share of the revenue that leaks during the delay.</a:t>
            </a:r>
          </a:p>
          <a:p>
            <a:pPr>
              <a:lnSpc>
                <a:spcPct val="130000"/>
              </a:lnSpc>
              <a:spcAft>
                <a:spcPts val="800"/>
              </a:spcAft>
            </a:pPr>
            <a:r>
              <a:rPr sz="1300" b="1">
                <a:solidFill>
                  <a:srgbClr val="A100FF"/>
                </a:solidFill>
              </a:rPr>
              <a:t>•  </a:t>
            </a:r>
            <a:r>
              <a:rPr sz="1250">
                <a:solidFill>
                  <a:srgbClr val="1D1D1F"/>
                </a:solidFill>
                <a:latin typeface="Calibri"/>
              </a:rPr>
              <a:t>Fewer poor decisions : the abstention gate prevents about 77 percent of movements from producing a confident and possibly incorrect recommendation.</a:t>
            </a:r>
          </a:p>
          <a:p>
            <a:pPr>
              <a:lnSpc>
                <a:spcPct val="130000"/>
              </a:lnSpc>
              <a:spcAft>
                <a:spcPts val="800"/>
              </a:spcAft>
            </a:pPr>
            <a:r>
              <a:rPr sz="1300" b="1">
                <a:solidFill>
                  <a:srgbClr val="A100FF"/>
                </a:solidFill>
              </a:rPr>
              <a:t>•  </a:t>
            </a:r>
            <a:r>
              <a:rPr sz="1250">
                <a:solidFill>
                  <a:srgbClr val="1D1D1F"/>
                </a:solidFill>
                <a:latin typeface="Calibri"/>
              </a:rPr>
              <a:t>Inference cost avoided : the live path makes no model calls — cost scales with the number of questions asked, not with the number of dashboards rendered.</a:t>
            </a:r>
          </a:p>
        </p:txBody>
      </p:sp>
      <p:sp>
        <p:nvSpPr>
          <p:cNvPr id="8" name="Rectangle 7"/>
          <p:cNvSpPr/>
          <p:nvPr/>
        </p:nvSpPr>
        <p:spPr>
          <a:xfrm>
            <a:off x="731520" y="5806440"/>
            <a:ext cx="10698480" cy="548640"/>
          </a:xfrm>
          <a:prstGeom prst="rect">
            <a:avLst/>
          </a:prstGeom>
          <a:solidFill>
            <a:srgbClr val="F4EEFB"/>
          </a:solidFill>
          <a:ln w="9525">
            <a:solidFill>
              <a:srgbClr val="D9CB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52160"/>
            <a:ext cx="10698480" cy="457200"/>
          </a:xfrm>
          <a:prstGeom prst="rect">
            <a:avLst/>
          </a:prstGeom>
          <a:noFill/>
        </p:spPr>
        <p:txBody>
          <a:bodyPr wrap="square" anchor="ctr">
            <a:spAutoFit/>
          </a:bodyPr>
          <a:lstStyle/>
          <a:p>
            <a:pPr algn="ctr">
              <a:lnSpc>
                <a:spcPct val="115000"/>
              </a:lnSpc>
            </a:pPr>
            <a:r>
              <a:rPr sz="1050" b="1" i="0">
                <a:solidFill>
                  <a:srgbClr val="2E0A4F"/>
                </a:solidFill>
                <a:latin typeface="Calibri"/>
              </a:rPr>
              <a:t>$0 per dashboard load     0 model calls on the live path     54 automated tests passing     0 reconciliation mismatches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Evidence and validation</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8</a:t>
            </a:r>
          </a:p>
        </p:txBody>
      </p:sp>
      <p:sp>
        <p:nvSpPr>
          <p:cNvPr id="7" name="Rectangle 6"/>
          <p:cNvSpPr/>
          <p:nvPr/>
        </p:nvSpPr>
        <p:spPr>
          <a:xfrm>
            <a:off x="731520" y="1463040"/>
            <a:ext cx="3520440" cy="2194560"/>
          </a:xfrm>
          <a:prstGeom prst="rect">
            <a:avLst/>
          </a:prstGeom>
          <a:solidFill>
            <a:srgbClr val="F4EEFB"/>
          </a:solidFill>
          <a:ln w="9525">
            <a:solidFill>
              <a:srgbClr val="D9CB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83080"/>
            <a:ext cx="3520440" cy="822960"/>
          </a:xfrm>
          <a:prstGeom prst="rect">
            <a:avLst/>
          </a:prstGeom>
          <a:noFill/>
        </p:spPr>
        <p:txBody>
          <a:bodyPr wrap="square" anchor="t">
            <a:spAutoFit/>
          </a:bodyPr>
          <a:lstStyle/>
          <a:p>
            <a:pPr algn="ctr">
              <a:lnSpc>
                <a:spcPct val="115000"/>
              </a:lnSpc>
            </a:pPr>
            <a:r>
              <a:rPr sz="2200" b="1" i="0">
                <a:solidFill>
                  <a:srgbClr val="A100FF"/>
                </a:solidFill>
                <a:latin typeface="Calibri"/>
              </a:rPr>
              <a:t>57</a:t>
            </a:r>
          </a:p>
        </p:txBody>
      </p:sp>
      <p:sp>
        <p:nvSpPr>
          <p:cNvPr id="9" name="TextBox 8"/>
          <p:cNvSpPr txBox="1"/>
          <p:nvPr/>
        </p:nvSpPr>
        <p:spPr>
          <a:xfrm>
            <a:off x="914400" y="2606040"/>
            <a:ext cx="3154680" cy="914400"/>
          </a:xfrm>
          <a:prstGeom prst="rect">
            <a:avLst/>
          </a:prstGeom>
          <a:noFill/>
        </p:spPr>
        <p:txBody>
          <a:bodyPr wrap="square" anchor="t">
            <a:spAutoFit/>
          </a:bodyPr>
          <a:lstStyle/>
          <a:p>
            <a:pPr algn="ctr">
              <a:lnSpc>
                <a:spcPct val="125000"/>
              </a:lnSpc>
            </a:pPr>
            <a:r>
              <a:rPr sz="1050" b="0" i="0">
                <a:solidFill>
                  <a:srgbClr val="1D1D1F"/>
                </a:solidFill>
                <a:latin typeface="Calibri"/>
              </a:rPr>
              <a:t>material movements detected and prioritised</a:t>
            </a:r>
          </a:p>
        </p:txBody>
      </p:sp>
      <p:sp>
        <p:nvSpPr>
          <p:cNvPr id="10" name="Rectangle 9"/>
          <p:cNvSpPr/>
          <p:nvPr/>
        </p:nvSpPr>
        <p:spPr>
          <a:xfrm>
            <a:off x="4389120" y="1463040"/>
            <a:ext cx="3520440" cy="2194560"/>
          </a:xfrm>
          <a:prstGeom prst="rect">
            <a:avLst/>
          </a:prstGeom>
          <a:solidFill>
            <a:srgbClr val="F4EEFB"/>
          </a:solidFill>
          <a:ln w="9525">
            <a:solidFill>
              <a:srgbClr val="D9CB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783080"/>
            <a:ext cx="3520440" cy="822960"/>
          </a:xfrm>
          <a:prstGeom prst="rect">
            <a:avLst/>
          </a:prstGeom>
          <a:noFill/>
        </p:spPr>
        <p:txBody>
          <a:bodyPr wrap="square" anchor="t">
            <a:spAutoFit/>
          </a:bodyPr>
          <a:lstStyle/>
          <a:p>
            <a:pPr algn="ctr">
              <a:lnSpc>
                <a:spcPct val="115000"/>
              </a:lnSpc>
            </a:pPr>
            <a:r>
              <a:rPr sz="2200" b="1" i="0">
                <a:solidFill>
                  <a:srgbClr val="A100FF"/>
                </a:solidFill>
                <a:latin typeface="Calibri"/>
              </a:rPr>
              <a:t>44 / 57</a:t>
            </a:r>
          </a:p>
        </p:txBody>
      </p:sp>
      <p:sp>
        <p:nvSpPr>
          <p:cNvPr id="12" name="TextBox 11"/>
          <p:cNvSpPr txBox="1"/>
          <p:nvPr/>
        </p:nvSpPr>
        <p:spPr>
          <a:xfrm>
            <a:off x="4572000" y="2606040"/>
            <a:ext cx="3154680" cy="914400"/>
          </a:xfrm>
          <a:prstGeom prst="rect">
            <a:avLst/>
          </a:prstGeom>
          <a:noFill/>
        </p:spPr>
        <p:txBody>
          <a:bodyPr wrap="square" anchor="t">
            <a:spAutoFit/>
          </a:bodyPr>
          <a:lstStyle/>
          <a:p>
            <a:pPr algn="ctr">
              <a:lnSpc>
                <a:spcPct val="125000"/>
              </a:lnSpc>
            </a:pPr>
            <a:r>
              <a:rPr sz="1050" b="0" i="0">
                <a:solidFill>
                  <a:srgbClr val="1D1D1F"/>
                </a:solidFill>
                <a:latin typeface="Calibri"/>
              </a:rPr>
              <a:t>held at abstained — figures returned, cause declined</a:t>
            </a:r>
          </a:p>
        </p:txBody>
      </p:sp>
      <p:sp>
        <p:nvSpPr>
          <p:cNvPr id="13" name="Rectangle 12"/>
          <p:cNvSpPr/>
          <p:nvPr/>
        </p:nvSpPr>
        <p:spPr>
          <a:xfrm>
            <a:off x="8046720" y="1463040"/>
            <a:ext cx="3520440" cy="2194560"/>
          </a:xfrm>
          <a:prstGeom prst="rect">
            <a:avLst/>
          </a:prstGeom>
          <a:solidFill>
            <a:srgbClr val="F4EEFB"/>
          </a:solidFill>
          <a:ln w="9525">
            <a:solidFill>
              <a:srgbClr val="D9CB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1783080"/>
            <a:ext cx="3520440" cy="822960"/>
          </a:xfrm>
          <a:prstGeom prst="rect">
            <a:avLst/>
          </a:prstGeom>
          <a:noFill/>
        </p:spPr>
        <p:txBody>
          <a:bodyPr wrap="square" anchor="t">
            <a:spAutoFit/>
          </a:bodyPr>
          <a:lstStyle/>
          <a:p>
            <a:pPr algn="ctr">
              <a:lnSpc>
                <a:spcPct val="115000"/>
              </a:lnSpc>
            </a:pPr>
            <a:r>
              <a:rPr sz="2200" b="1" i="0">
                <a:solidFill>
                  <a:srgbClr val="A100FF"/>
                </a:solidFill>
                <a:latin typeface="Calibri"/>
              </a:rPr>
              <a:t>41 / 8 / 7 / 1</a:t>
            </a:r>
          </a:p>
        </p:txBody>
      </p:sp>
      <p:sp>
        <p:nvSpPr>
          <p:cNvPr id="15" name="TextBox 14"/>
          <p:cNvSpPr txBox="1"/>
          <p:nvPr/>
        </p:nvSpPr>
        <p:spPr>
          <a:xfrm>
            <a:off x="8229600" y="2606040"/>
            <a:ext cx="3154680" cy="914400"/>
          </a:xfrm>
          <a:prstGeom prst="rect">
            <a:avLst/>
          </a:prstGeom>
          <a:noFill/>
        </p:spPr>
        <p:txBody>
          <a:bodyPr wrap="square" anchor="t">
            <a:spAutoFit/>
          </a:bodyPr>
          <a:lstStyle/>
          <a:p>
            <a:pPr algn="ctr">
              <a:lnSpc>
                <a:spcPct val="125000"/>
              </a:lnSpc>
            </a:pPr>
            <a:r>
              <a:rPr sz="1050" b="0" i="0">
                <a:solidFill>
                  <a:srgbClr val="1D1D1F"/>
                </a:solidFill>
                <a:latin typeface="Calibri"/>
              </a:rPr>
              <a:t>statistical / evidence-driven / hybrid / sparse mix</a:t>
            </a:r>
          </a:p>
        </p:txBody>
      </p:sp>
      <p:sp>
        <p:nvSpPr>
          <p:cNvPr id="16" name="Rectangle 15"/>
          <p:cNvSpPr/>
          <p:nvPr/>
        </p:nvSpPr>
        <p:spPr>
          <a:xfrm>
            <a:off x="731520" y="3840480"/>
            <a:ext cx="3520440" cy="2194560"/>
          </a:xfrm>
          <a:prstGeom prst="rect">
            <a:avLst/>
          </a:prstGeom>
          <a:solidFill>
            <a:srgbClr val="F4EEFB"/>
          </a:solidFill>
          <a:ln w="9525">
            <a:solidFill>
              <a:srgbClr val="D9CB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60520"/>
            <a:ext cx="3520440" cy="822960"/>
          </a:xfrm>
          <a:prstGeom prst="rect">
            <a:avLst/>
          </a:prstGeom>
          <a:noFill/>
        </p:spPr>
        <p:txBody>
          <a:bodyPr wrap="square" anchor="t">
            <a:spAutoFit/>
          </a:bodyPr>
          <a:lstStyle/>
          <a:p>
            <a:pPr algn="ctr">
              <a:lnSpc>
                <a:spcPct val="115000"/>
              </a:lnSpc>
            </a:pPr>
            <a:r>
              <a:rPr sz="2200" b="1" i="0">
                <a:solidFill>
                  <a:srgbClr val="A100FF"/>
                </a:solidFill>
                <a:latin typeface="Calibri"/>
              </a:rPr>
              <a:t>8,738 / 40,380</a:t>
            </a:r>
          </a:p>
        </p:txBody>
      </p:sp>
      <p:sp>
        <p:nvSpPr>
          <p:cNvPr id="18" name="TextBox 17"/>
          <p:cNvSpPr txBox="1"/>
          <p:nvPr/>
        </p:nvSpPr>
        <p:spPr>
          <a:xfrm>
            <a:off x="914400" y="4983480"/>
            <a:ext cx="3154680" cy="914400"/>
          </a:xfrm>
          <a:prstGeom prst="rect">
            <a:avLst/>
          </a:prstGeom>
          <a:noFill/>
        </p:spPr>
        <p:txBody>
          <a:bodyPr wrap="square" anchor="t">
            <a:spAutoFit/>
          </a:bodyPr>
          <a:lstStyle/>
          <a:p>
            <a:pPr algn="ctr">
              <a:lnSpc>
                <a:spcPct val="125000"/>
              </a:lnSpc>
            </a:pPr>
            <a:r>
              <a:rPr sz="1050" b="0" i="0">
                <a:solidFill>
                  <a:srgbClr val="1D1D1F"/>
                </a:solidFill>
                <a:latin typeface="Calibri"/>
              </a:rPr>
              <a:t>evidence-graph nodes / edges, 0 sign mismatches</a:t>
            </a:r>
          </a:p>
        </p:txBody>
      </p:sp>
      <p:sp>
        <p:nvSpPr>
          <p:cNvPr id="19" name="Rectangle 18"/>
          <p:cNvSpPr/>
          <p:nvPr/>
        </p:nvSpPr>
        <p:spPr>
          <a:xfrm>
            <a:off x="4389120" y="3840480"/>
            <a:ext cx="3520440" cy="2194560"/>
          </a:xfrm>
          <a:prstGeom prst="rect">
            <a:avLst/>
          </a:prstGeom>
          <a:solidFill>
            <a:srgbClr val="F4EEFB"/>
          </a:solidFill>
          <a:ln w="9525">
            <a:solidFill>
              <a:srgbClr val="D9CB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4160520"/>
            <a:ext cx="3520440" cy="822960"/>
          </a:xfrm>
          <a:prstGeom prst="rect">
            <a:avLst/>
          </a:prstGeom>
          <a:noFill/>
        </p:spPr>
        <p:txBody>
          <a:bodyPr wrap="square" anchor="t">
            <a:spAutoFit/>
          </a:bodyPr>
          <a:lstStyle/>
          <a:p>
            <a:pPr algn="ctr">
              <a:lnSpc>
                <a:spcPct val="115000"/>
              </a:lnSpc>
            </a:pPr>
            <a:r>
              <a:rPr sz="2200" b="1" i="0">
                <a:solidFill>
                  <a:srgbClr val="A100FF"/>
                </a:solidFill>
                <a:latin typeface="Calibri"/>
              </a:rPr>
              <a:t>27,409</a:t>
            </a:r>
          </a:p>
        </p:txBody>
      </p:sp>
      <p:sp>
        <p:nvSpPr>
          <p:cNvPr id="21" name="TextBox 20"/>
          <p:cNvSpPr txBox="1"/>
          <p:nvPr/>
        </p:nvSpPr>
        <p:spPr>
          <a:xfrm>
            <a:off x="4572000" y="4983480"/>
            <a:ext cx="3154680" cy="914400"/>
          </a:xfrm>
          <a:prstGeom prst="rect">
            <a:avLst/>
          </a:prstGeom>
          <a:noFill/>
        </p:spPr>
        <p:txBody>
          <a:bodyPr wrap="square" anchor="t">
            <a:spAutoFit/>
          </a:bodyPr>
          <a:lstStyle/>
          <a:p>
            <a:pPr algn="ctr">
              <a:lnSpc>
                <a:spcPct val="125000"/>
              </a:lnSpc>
            </a:pPr>
            <a:r>
              <a:rPr sz="1050" b="0" i="0">
                <a:solidFill>
                  <a:srgbClr val="1D1D1F"/>
                </a:solidFill>
                <a:latin typeface="Calibri"/>
              </a:rPr>
              <a:t>sales rows; the revenue identity holds on every one</a:t>
            </a:r>
          </a:p>
        </p:txBody>
      </p:sp>
      <p:sp>
        <p:nvSpPr>
          <p:cNvPr id="22" name="Rectangle 21"/>
          <p:cNvSpPr/>
          <p:nvPr/>
        </p:nvSpPr>
        <p:spPr>
          <a:xfrm>
            <a:off x="8046720" y="3840480"/>
            <a:ext cx="3520440" cy="2194560"/>
          </a:xfrm>
          <a:prstGeom prst="rect">
            <a:avLst/>
          </a:prstGeom>
          <a:solidFill>
            <a:srgbClr val="F4EEFB"/>
          </a:solidFill>
          <a:ln w="9525">
            <a:solidFill>
              <a:srgbClr val="D9CB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4160520"/>
            <a:ext cx="3520440" cy="822960"/>
          </a:xfrm>
          <a:prstGeom prst="rect">
            <a:avLst/>
          </a:prstGeom>
          <a:noFill/>
        </p:spPr>
        <p:txBody>
          <a:bodyPr wrap="square" anchor="t">
            <a:spAutoFit/>
          </a:bodyPr>
          <a:lstStyle/>
          <a:p>
            <a:pPr algn="ctr">
              <a:lnSpc>
                <a:spcPct val="115000"/>
              </a:lnSpc>
            </a:pPr>
            <a:r>
              <a:rPr sz="2200" b="1" i="0">
                <a:solidFill>
                  <a:srgbClr val="A100FF"/>
                </a:solidFill>
                <a:latin typeface="Calibri"/>
              </a:rPr>
              <a:t>7.44 s  /  $0.00</a:t>
            </a:r>
          </a:p>
        </p:txBody>
      </p:sp>
      <p:sp>
        <p:nvSpPr>
          <p:cNvPr id="24" name="TextBox 23"/>
          <p:cNvSpPr txBox="1"/>
          <p:nvPr/>
        </p:nvSpPr>
        <p:spPr>
          <a:xfrm>
            <a:off x="8229600" y="4983480"/>
            <a:ext cx="3154680" cy="914400"/>
          </a:xfrm>
          <a:prstGeom prst="rect">
            <a:avLst/>
          </a:prstGeom>
          <a:noFill/>
        </p:spPr>
        <p:txBody>
          <a:bodyPr wrap="square" anchor="t">
            <a:spAutoFit/>
          </a:bodyPr>
          <a:lstStyle/>
          <a:p>
            <a:pPr algn="ctr">
              <a:lnSpc>
                <a:spcPct val="125000"/>
              </a:lnSpc>
            </a:pPr>
            <a:r>
              <a:rPr sz="1050" b="0" i="0">
                <a:solidFill>
                  <a:srgbClr val="1D1D1F"/>
                </a:solidFill>
                <a:latin typeface="Calibri"/>
              </a:rPr>
              <a:t>full deterministic seed run, zero model cost</a:t>
            </a:r>
          </a:p>
        </p:txBody>
      </p:sp>
      <p:sp>
        <p:nvSpPr>
          <p:cNvPr id="25" name="TextBox 24"/>
          <p:cNvSpPr txBox="1"/>
          <p:nvPr/>
        </p:nvSpPr>
        <p:spPr>
          <a:xfrm>
            <a:off x="731520" y="5989320"/>
            <a:ext cx="10881360" cy="365760"/>
          </a:xfrm>
          <a:prstGeom prst="rect">
            <a:avLst/>
          </a:prstGeom>
          <a:noFill/>
        </p:spPr>
        <p:txBody>
          <a:bodyPr wrap="square" anchor="t">
            <a:spAutoFit/>
          </a:bodyPr>
          <a:lstStyle/>
          <a:p>
            <a:pPr algn="l">
              <a:lnSpc>
                <a:spcPct val="115000"/>
              </a:lnSpc>
            </a:pPr>
            <a:r>
              <a:rPr sz="1000" b="0" i="1">
                <a:solidFill>
                  <a:srgbClr val="5B5B60"/>
                </a:solidFill>
                <a:latin typeface="Calibri"/>
              </a:rPr>
              <a:t>Every figure is reproducible from the committed database and the 54-test suite.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Phased roadmap</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9</a:t>
            </a:r>
          </a:p>
        </p:txBody>
      </p:sp>
      <p:graphicFrame>
        <p:nvGraphicFramePr>
          <p:cNvPr id="7" name="Table 6"/>
          <p:cNvGraphicFramePr>
            <a:graphicFrameLocks noGrp="1"/>
          </p:cNvGraphicFramePr>
          <p:nvPr/>
        </p:nvGraphicFramePr>
        <p:xfrm>
          <a:off x="640080" y="1371600"/>
          <a:ext cx="10927078" cy="4754880"/>
        </p:xfrm>
        <a:graphic>
          <a:graphicData uri="http://schemas.openxmlformats.org/drawingml/2006/table">
            <a:tbl>
              <a:tblPr firstRow="1" bandRow="1">
                <a:tableStyleId>{5C22544A-7EE6-4342-B048-85BDC9FD1C3A}</a:tableStyleId>
              </a:tblPr>
              <a:tblGrid>
                <a:gridCol w="1748332"/>
                <a:gridCol w="4370832"/>
                <a:gridCol w="1420520"/>
                <a:gridCol w="3387394"/>
              </a:tblGrid>
              <a:tr h="950976">
                <a:tc>
                  <a:txBody>
                    <a:bodyPr/>
                    <a:lstStyle/>
                    <a:p>
                      <a:r>
                        <a:rPr sz="1000" b="1">
                          <a:solidFill>
                            <a:srgbClr val="FFFFFF"/>
                          </a:solidFill>
                          <a:latin typeface="Calibri"/>
                        </a:rPr>
                        <a:t>Phase</a:t>
                      </a:r>
                    </a:p>
                  </a:txBody>
                  <a:tcPr>
                    <a:solidFill>
                      <a:srgbClr val="2E0A4F"/>
                    </a:solidFill>
                  </a:tcPr>
                </a:tc>
                <a:tc>
                  <a:txBody>
                    <a:bodyPr/>
                    <a:lstStyle/>
                    <a:p>
                      <a:r>
                        <a:rPr sz="1000" b="1">
                          <a:solidFill>
                            <a:srgbClr val="FFFFFF"/>
                          </a:solidFill>
                          <a:latin typeface="Calibri"/>
                        </a:rPr>
                        <a:t>Scope</a:t>
                      </a:r>
                    </a:p>
                  </a:txBody>
                  <a:tcPr>
                    <a:solidFill>
                      <a:srgbClr val="2E0A4F"/>
                    </a:solidFill>
                  </a:tcPr>
                </a:tc>
                <a:tc>
                  <a:txBody>
                    <a:bodyPr/>
                    <a:lstStyle/>
                    <a:p>
                      <a:r>
                        <a:rPr sz="1000" b="1">
                          <a:solidFill>
                            <a:srgbClr val="FFFFFF"/>
                          </a:solidFill>
                          <a:latin typeface="Calibri"/>
                        </a:rPr>
                        <a:t>Duration</a:t>
                      </a:r>
                    </a:p>
                  </a:txBody>
                  <a:tcPr>
                    <a:solidFill>
                      <a:srgbClr val="2E0A4F"/>
                    </a:solidFill>
                  </a:tcPr>
                </a:tc>
                <a:tc>
                  <a:txBody>
                    <a:bodyPr/>
                    <a:lstStyle/>
                    <a:p>
                      <a:r>
                        <a:rPr sz="1000" b="1">
                          <a:solidFill>
                            <a:srgbClr val="FFFFFF"/>
                          </a:solidFill>
                          <a:latin typeface="Calibri"/>
                        </a:rPr>
                        <a:t>Exit criteria</a:t>
                      </a:r>
                    </a:p>
                  </a:txBody>
                  <a:tcPr>
                    <a:solidFill>
                      <a:srgbClr val="2E0A4F"/>
                    </a:solidFill>
                  </a:tcPr>
                </a:tc>
              </a:tr>
              <a:tr h="950976">
                <a:tc>
                  <a:txBody>
                    <a:bodyPr/>
                    <a:lstStyle/>
                    <a:p>
                      <a:pPr>
                        <a:lnSpc>
                          <a:spcPct val="115000"/>
                        </a:lnSpc>
                      </a:pPr>
                      <a:r>
                        <a:rPr sz="900" b="1">
                          <a:solidFill>
                            <a:srgbClr val="2E0A4F"/>
                          </a:solidFill>
                          <a:latin typeface="Calibri"/>
                        </a:rPr>
                        <a:t>P0</a:t>
                      </a:r>
                    </a:p>
                    <a:p>
                      <a:r>
                        <a:t>Prototype</a:t>
                      </a:r>
                    </a:p>
                    <a:p>
                      <a:r>
                        <a:t>(this submission)</a:t>
                      </a:r>
                    </a:p>
                  </a:txBody>
                  <a:tcPr>
                    <a:solidFill>
                      <a:srgbClr val="F4EEFB"/>
                    </a:solidFill>
                  </a:tcPr>
                </a:tc>
                <a:tc>
                  <a:txBody>
                    <a:bodyPr/>
                    <a:lstStyle/>
                    <a:p>
                      <a:pPr>
                        <a:lnSpc>
                          <a:spcPct val="115000"/>
                        </a:lnSpc>
                      </a:pPr>
                      <a:r>
                        <a:rPr sz="900" b="0">
                          <a:solidFill>
                            <a:srgbClr val="1D1D1F"/>
                          </a:solidFill>
                          <a:latin typeface="Calibri"/>
                        </a:rPr>
                        <a:t>Three KPIs; three structured sources plus unstructured text; three personas; full detection, decomposition, evidence graph, abstention and grounded assistant; 54 tests</a:t>
                      </a:r>
                    </a:p>
                  </a:txBody>
                  <a:tcPr>
                    <a:solidFill>
                      <a:srgbClr val="F4EEFB"/>
                    </a:solidFill>
                  </a:tcPr>
                </a:tc>
                <a:tc>
                  <a:txBody>
                    <a:bodyPr/>
                    <a:lstStyle/>
                    <a:p>
                      <a:pPr>
                        <a:lnSpc>
                          <a:spcPct val="115000"/>
                        </a:lnSpc>
                      </a:pPr>
                      <a:r>
                        <a:rPr sz="900" b="0">
                          <a:solidFill>
                            <a:srgbClr val="1D1D1F"/>
                          </a:solidFill>
                          <a:latin typeface="Calibri"/>
                        </a:rPr>
                        <a:t>Complete</a:t>
                      </a:r>
                    </a:p>
                  </a:txBody>
                  <a:tcPr>
                    <a:solidFill>
                      <a:srgbClr val="F4EEFB"/>
                    </a:solidFill>
                  </a:tcPr>
                </a:tc>
                <a:tc>
                  <a:txBody>
                    <a:bodyPr/>
                    <a:lstStyle/>
                    <a:p>
                      <a:pPr>
                        <a:lnSpc>
                          <a:spcPct val="115000"/>
                        </a:lnSpc>
                      </a:pPr>
                      <a:r>
                        <a:rPr sz="900" b="0">
                          <a:solidFill>
                            <a:srgbClr val="1D1D1F"/>
                          </a:solidFill>
                          <a:latin typeface="Calibri"/>
                        </a:rPr>
                        <a:t>Every Round 2 minimum expectation demonstrated on illustrative data</a:t>
                      </a:r>
                    </a:p>
                  </a:txBody>
                  <a:tcPr>
                    <a:solidFill>
                      <a:srgbClr val="F4EEFB"/>
                    </a:solidFill>
                  </a:tcPr>
                </a:tc>
              </a:tr>
              <a:tr h="950976">
                <a:tc>
                  <a:txBody>
                    <a:bodyPr/>
                    <a:lstStyle/>
                    <a:p>
                      <a:pPr>
                        <a:lnSpc>
                          <a:spcPct val="115000"/>
                        </a:lnSpc>
                      </a:pPr>
                      <a:r>
                        <a:rPr sz="900" b="1">
                          <a:solidFill>
                            <a:srgbClr val="2E0A4F"/>
                          </a:solidFill>
                          <a:latin typeface="Calibri"/>
                        </a:rPr>
                        <a:t>P1</a:t>
                      </a:r>
                    </a:p>
                    <a:p>
                      <a:r>
                        <a:t>Pilot</a:t>
                      </a:r>
                    </a:p>
                    <a:p>
                      <a:r>
                        <a:t>(single domain)</a:t>
                      </a:r>
                    </a:p>
                  </a:txBody>
                  <a:tcPr>
                    <a:solidFill>
                      <a:srgbClr val="FFFFFF"/>
                    </a:solidFill>
                  </a:tcPr>
                </a:tc>
                <a:tc>
                  <a:txBody>
                    <a:bodyPr/>
                    <a:lstStyle/>
                    <a:p>
                      <a:pPr>
                        <a:lnSpc>
                          <a:spcPct val="115000"/>
                        </a:lnSpc>
                      </a:pPr>
                      <a:r>
                        <a:rPr sz="900" b="0">
                          <a:solidFill>
                            <a:srgbClr val="1D1D1F"/>
                          </a:solidFill>
                          <a:latin typeface="Calibri"/>
                        </a:rPr>
                        <a:t>Connect one production warehouse; replace synthetic feeds with real ones; map roles to single sign-on; add an analyst correction interface that writes back to the contract</a:t>
                      </a:r>
                    </a:p>
                  </a:txBody>
                  <a:tcPr>
                    <a:solidFill>
                      <a:srgbClr val="FFFFFF"/>
                    </a:solidFill>
                  </a:tcPr>
                </a:tc>
                <a:tc>
                  <a:txBody>
                    <a:bodyPr/>
                    <a:lstStyle/>
                    <a:p>
                      <a:pPr>
                        <a:lnSpc>
                          <a:spcPct val="115000"/>
                        </a:lnSpc>
                      </a:pPr>
                      <a:r>
                        <a:rPr sz="900" b="0">
                          <a:solidFill>
                            <a:srgbClr val="1D1D1F"/>
                          </a:solidFill>
                          <a:latin typeface="Calibri"/>
                        </a:rPr>
                        <a:t>~1 quarter</a:t>
                      </a:r>
                    </a:p>
                  </a:txBody>
                  <a:tcPr>
                    <a:solidFill>
                      <a:srgbClr val="FFFFFF"/>
                    </a:solidFill>
                  </a:tcPr>
                </a:tc>
                <a:tc>
                  <a:txBody>
                    <a:bodyPr/>
                    <a:lstStyle/>
                    <a:p>
                      <a:pPr>
                        <a:lnSpc>
                          <a:spcPct val="115000"/>
                        </a:lnSpc>
                      </a:pPr>
                      <a:r>
                        <a:rPr sz="900" b="0">
                          <a:solidFill>
                            <a:srgbClr val="1D1D1F"/>
                          </a:solidFill>
                          <a:latin typeface="Calibri"/>
                        </a:rPr>
                        <a:t>Analyst agreement on ranked drivers at or above 80 percent; 95th-percentile analytics latency below two seconds</a:t>
                      </a:r>
                    </a:p>
                  </a:txBody>
                  <a:tcPr>
                    <a:solidFill>
                      <a:srgbClr val="FFFFFF"/>
                    </a:solidFill>
                  </a:tcPr>
                </a:tc>
              </a:tr>
              <a:tr h="950976">
                <a:tc>
                  <a:txBody>
                    <a:bodyPr/>
                    <a:lstStyle/>
                    <a:p>
                      <a:pPr>
                        <a:lnSpc>
                          <a:spcPct val="115000"/>
                        </a:lnSpc>
                      </a:pPr>
                      <a:r>
                        <a:rPr sz="900" b="1">
                          <a:solidFill>
                            <a:srgbClr val="2E0A4F"/>
                          </a:solidFill>
                          <a:latin typeface="Calibri"/>
                        </a:rPr>
                        <a:t>P2</a:t>
                      </a:r>
                    </a:p>
                    <a:p>
                      <a:r>
                        <a:t>Breadth</a:t>
                      </a:r>
                    </a:p>
                  </a:txBody>
                  <a:tcPr>
                    <a:solidFill>
                      <a:srgbClr val="F4EEFB"/>
                    </a:solidFill>
                  </a:tcPr>
                </a:tc>
                <a:tc>
                  <a:txBody>
                    <a:bodyPr/>
                    <a:lstStyle/>
                    <a:p>
                      <a:pPr>
                        <a:lnSpc>
                          <a:spcPct val="115000"/>
                        </a:lnSpc>
                      </a:pPr>
                      <a:r>
                        <a:rPr sz="900" b="0">
                          <a:solidFill>
                            <a:srgbClr val="1D1D1F"/>
                          </a:solidFill>
                          <a:latin typeface="Calibri"/>
                        </a:rPr>
                        <a:t>15 to 30 KPI slices; add forecasting for expected-range bands and causal inference as a third driver method; add proactive alerting to messaging and email</a:t>
                      </a:r>
                    </a:p>
                  </a:txBody>
                  <a:tcPr>
                    <a:solidFill>
                      <a:srgbClr val="F4EEFB"/>
                    </a:solidFill>
                  </a:tcPr>
                </a:tc>
                <a:tc>
                  <a:txBody>
                    <a:bodyPr/>
                    <a:lstStyle/>
                    <a:p>
                      <a:pPr>
                        <a:lnSpc>
                          <a:spcPct val="115000"/>
                        </a:lnSpc>
                      </a:pPr>
                      <a:r>
                        <a:rPr sz="900" b="0">
                          <a:solidFill>
                            <a:srgbClr val="1D1D1F"/>
                          </a:solidFill>
                          <a:latin typeface="Calibri"/>
                        </a:rPr>
                        <a:t>~2 quarters</a:t>
                      </a:r>
                    </a:p>
                  </a:txBody>
                  <a:tcPr>
                    <a:solidFill>
                      <a:srgbClr val="F4EEFB"/>
                    </a:solidFill>
                  </a:tcPr>
                </a:tc>
                <a:tc>
                  <a:txBody>
                    <a:bodyPr/>
                    <a:lstStyle/>
                    <a:p>
                      <a:pPr>
                        <a:lnSpc>
                          <a:spcPct val="115000"/>
                        </a:lnSpc>
                      </a:pPr>
                      <a:r>
                        <a:rPr sz="900" b="0">
                          <a:solidFill>
                            <a:srgbClr val="1D1D1F"/>
                          </a:solidFill>
                          <a:latin typeface="Calibri"/>
                        </a:rPr>
                        <a:t>Drift monitors in production; the feedback loop closes nightly; false-positive alert rate below 10 percent</a:t>
                      </a:r>
                    </a:p>
                  </a:txBody>
                  <a:tcPr>
                    <a:solidFill>
                      <a:srgbClr val="F4EEFB"/>
                    </a:solidFill>
                  </a:tcPr>
                </a:tc>
              </a:tr>
              <a:tr h="950976">
                <a:tc>
                  <a:txBody>
                    <a:bodyPr/>
                    <a:lstStyle/>
                    <a:p>
                      <a:pPr>
                        <a:lnSpc>
                          <a:spcPct val="115000"/>
                        </a:lnSpc>
                      </a:pPr>
                      <a:r>
                        <a:rPr sz="900" b="1">
                          <a:solidFill>
                            <a:srgbClr val="2E0A4F"/>
                          </a:solidFill>
                          <a:latin typeface="Calibri"/>
                        </a:rPr>
                        <a:t>P3</a:t>
                      </a:r>
                    </a:p>
                    <a:p>
                      <a:r>
                        <a:t>Scale and</a:t>
                      </a:r>
                    </a:p>
                    <a:p>
                      <a:r>
                        <a:t>governance</a:t>
                      </a:r>
                    </a:p>
                  </a:txBody>
                  <a:tcPr>
                    <a:solidFill>
                      <a:srgbClr val="FFFFFF"/>
                    </a:solidFill>
                  </a:tcPr>
                </a:tc>
                <a:tc>
                  <a:txBody>
                    <a:bodyPr/>
                    <a:lstStyle/>
                    <a:p>
                      <a:pPr>
                        <a:lnSpc>
                          <a:spcPct val="115000"/>
                        </a:lnSpc>
                      </a:pPr>
                      <a:r>
                        <a:rPr sz="900" b="0">
                          <a:solidFill>
                            <a:srgbClr val="1D1D1F"/>
                          </a:solidFill>
                          <a:latin typeface="Calibri"/>
                        </a:rPr>
                        <a:t>Multiple domains on one contract; per-geography policy packs for entitlements and retention; full audit export; a model router meeting cost and latency objectives</a:t>
                      </a:r>
                    </a:p>
                  </a:txBody>
                  <a:tcPr>
                    <a:solidFill>
                      <a:srgbClr val="FFFFFF"/>
                    </a:solidFill>
                  </a:tcPr>
                </a:tc>
                <a:tc>
                  <a:txBody>
                    <a:bodyPr/>
                    <a:lstStyle/>
                    <a:p>
                      <a:pPr>
                        <a:lnSpc>
                          <a:spcPct val="115000"/>
                        </a:lnSpc>
                      </a:pPr>
                      <a:r>
                        <a:rPr sz="900" b="0">
                          <a:solidFill>
                            <a:srgbClr val="1D1D1F"/>
                          </a:solidFill>
                          <a:latin typeface="Calibri"/>
                        </a:rPr>
                        <a:t>~2 quarters</a:t>
                      </a:r>
                    </a:p>
                  </a:txBody>
                  <a:tcPr>
                    <a:solidFill>
                      <a:srgbClr val="FFFFFF"/>
                    </a:solidFill>
                  </a:tcPr>
                </a:tc>
                <a:tc>
                  <a:txBody>
                    <a:bodyPr/>
                    <a:lstStyle/>
                    <a:p>
                      <a:pPr>
                        <a:lnSpc>
                          <a:spcPct val="115000"/>
                        </a:lnSpc>
                      </a:pPr>
                      <a:r>
                        <a:rPr sz="900" b="0">
                          <a:solidFill>
                            <a:srgbClr val="1D1D1F"/>
                          </a:solidFill>
                          <a:latin typeface="Calibri"/>
                        </a:rPr>
                        <a:t>Central governance sign-off; onboarding a new KPI is a contract edit, not a code change</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Key risks and mitigations</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10</a:t>
            </a:r>
          </a:p>
        </p:txBody>
      </p:sp>
      <p:graphicFrame>
        <p:nvGraphicFramePr>
          <p:cNvPr id="7" name="Table 6"/>
          <p:cNvGraphicFramePr>
            <a:graphicFrameLocks noGrp="1"/>
          </p:cNvGraphicFramePr>
          <p:nvPr/>
        </p:nvGraphicFramePr>
        <p:xfrm>
          <a:off x="640080" y="1371600"/>
          <a:ext cx="10927078" cy="4754880"/>
        </p:xfrm>
        <a:graphic>
          <a:graphicData uri="http://schemas.openxmlformats.org/drawingml/2006/table">
            <a:tbl>
              <a:tblPr firstRow="1" bandRow="1">
                <a:tableStyleId>{5C22544A-7EE6-4342-B048-85BDC9FD1C3A}</a:tableStyleId>
              </a:tblPr>
              <a:tblGrid>
                <a:gridCol w="3278123"/>
                <a:gridCol w="7648955"/>
              </a:tblGrid>
              <a:tr h="679268">
                <a:tc>
                  <a:txBody>
                    <a:bodyPr/>
                    <a:lstStyle/>
                    <a:p>
                      <a:r>
                        <a:rPr sz="1000" b="1">
                          <a:solidFill>
                            <a:srgbClr val="FFFFFF"/>
                          </a:solidFill>
                          <a:latin typeface="Calibri"/>
                        </a:rPr>
                        <a:t>Risk</a:t>
                      </a:r>
                    </a:p>
                  </a:txBody>
                  <a:tcPr>
                    <a:solidFill>
                      <a:srgbClr val="2E0A4F"/>
                    </a:solidFill>
                  </a:tcPr>
                </a:tc>
                <a:tc>
                  <a:txBody>
                    <a:bodyPr/>
                    <a:lstStyle/>
                    <a:p>
                      <a:r>
                        <a:rPr sz="1000" b="1">
                          <a:solidFill>
                            <a:srgbClr val="FFFFFF"/>
                          </a:solidFill>
                          <a:latin typeface="Calibri"/>
                        </a:rPr>
                        <a:t>Mitigation</a:t>
                      </a:r>
                    </a:p>
                  </a:txBody>
                  <a:tcPr>
                    <a:solidFill>
                      <a:srgbClr val="2E0A4F"/>
                    </a:solidFill>
                  </a:tcPr>
                </a:tc>
              </a:tr>
              <a:tr h="679268">
                <a:tc>
                  <a:txBody>
                    <a:bodyPr/>
                    <a:lstStyle/>
                    <a:p>
                      <a:pPr>
                        <a:lnSpc>
                          <a:spcPct val="115000"/>
                        </a:lnSpc>
                      </a:pPr>
                      <a:r>
                        <a:rPr sz="900" b="1">
                          <a:solidFill>
                            <a:srgbClr val="2E0A4F"/>
                          </a:solidFill>
                          <a:latin typeface="Calibri"/>
                        </a:rPr>
                        <a:t>The language model fabricates a numerical value</a:t>
                      </a:r>
                    </a:p>
                  </a:txBody>
                  <a:tcPr>
                    <a:solidFill>
                      <a:srgbClr val="F4EEFB"/>
                    </a:solidFill>
                  </a:tcPr>
                </a:tc>
                <a:tc>
                  <a:txBody>
                    <a:bodyPr/>
                    <a:lstStyle/>
                    <a:p>
                      <a:pPr>
                        <a:lnSpc>
                          <a:spcPct val="115000"/>
                        </a:lnSpc>
                      </a:pPr>
                      <a:r>
                        <a:rPr sz="900" b="0">
                          <a:solidFill>
                            <a:srgbClr val="1D1D1F"/>
                          </a:solidFill>
                          <a:latin typeface="Calibri"/>
                        </a:rPr>
                        <a:t>The model performs no computation; it receives only pre-computed, pre-masked evidence and is instructed to treat it as the sole quantitative source. The split is reported on every turn.</a:t>
                      </a:r>
                    </a:p>
                  </a:txBody>
                  <a:tcPr>
                    <a:solidFill>
                      <a:srgbClr val="F4EEFB"/>
                    </a:solidFill>
                  </a:tcPr>
                </a:tc>
              </a:tr>
              <a:tr h="679268">
                <a:tc>
                  <a:txBody>
                    <a:bodyPr/>
                    <a:lstStyle/>
                    <a:p>
                      <a:pPr>
                        <a:lnSpc>
                          <a:spcPct val="115000"/>
                        </a:lnSpc>
                      </a:pPr>
                      <a:r>
                        <a:rPr sz="900" b="1">
                          <a:solidFill>
                            <a:srgbClr val="2E0A4F"/>
                          </a:solidFill>
                          <a:latin typeface="Calibri"/>
                        </a:rPr>
                        <a:t>Over-flagging leads to alert fatigue</a:t>
                      </a:r>
                    </a:p>
                  </a:txBody>
                  <a:tcPr>
                    <a:solidFill>
                      <a:srgbClr val="FFFFFF"/>
                    </a:solidFill>
                  </a:tcPr>
                </a:tc>
                <a:tc>
                  <a:txBody>
                    <a:bodyPr/>
                    <a:lstStyle/>
                    <a:p>
                      <a:pPr>
                        <a:lnSpc>
                          <a:spcPct val="115000"/>
                        </a:lnSpc>
                      </a:pPr>
                      <a:r>
                        <a:rPr sz="900" b="0">
                          <a:solidFill>
                            <a:srgbClr val="1D1D1F"/>
                          </a:solidFill>
                          <a:latin typeface="Calibri"/>
                        </a:rPr>
                        <a:t>A z-score admission gate, a severity ladder, and materiality ordering. The abstention gate prevents about 77 percent of movements from producing confident output.</a:t>
                      </a:r>
                    </a:p>
                  </a:txBody>
                  <a:tcPr>
                    <a:solidFill>
                      <a:srgbClr val="FFFFFF"/>
                    </a:solidFill>
                  </a:tcPr>
                </a:tc>
              </a:tr>
              <a:tr h="679268">
                <a:tc>
                  <a:txBody>
                    <a:bodyPr/>
                    <a:lstStyle/>
                    <a:p>
                      <a:pPr>
                        <a:lnSpc>
                          <a:spcPct val="115000"/>
                        </a:lnSpc>
                      </a:pPr>
                      <a:r>
                        <a:rPr sz="900" b="1">
                          <a:solidFill>
                            <a:srgbClr val="2E0A4F"/>
                          </a:solidFill>
                          <a:latin typeface="Calibri"/>
                        </a:rPr>
                        <a:t>Under-flagging leads to a missed movement</a:t>
                      </a:r>
                    </a:p>
                  </a:txBody>
                  <a:tcPr>
                    <a:solidFill>
                      <a:srgbClr val="F4EEFB"/>
                    </a:solidFill>
                  </a:tcPr>
                </a:tc>
                <a:tc>
                  <a:txBody>
                    <a:bodyPr/>
                    <a:lstStyle/>
                    <a:p>
                      <a:pPr>
                        <a:lnSpc>
                          <a:spcPct val="115000"/>
                        </a:lnSpc>
                      </a:pPr>
                      <a:r>
                        <a:rPr sz="900" b="0">
                          <a:solidFill>
                            <a:srgbClr val="1D1D1F"/>
                          </a:solidFill>
                          <a:latin typeface="Calibri"/>
                        </a:rPr>
                        <a:t>Two independent detection signals. A period flagged by neither is never admitted, but either signal alone is sufficient to admit it.</a:t>
                      </a:r>
                    </a:p>
                  </a:txBody>
                  <a:tcPr>
                    <a:solidFill>
                      <a:srgbClr val="F4EEFB"/>
                    </a:solidFill>
                  </a:tcPr>
                </a:tc>
              </a:tr>
              <a:tr h="679268">
                <a:tc>
                  <a:txBody>
                    <a:bodyPr/>
                    <a:lstStyle/>
                    <a:p>
                      <a:pPr>
                        <a:lnSpc>
                          <a:spcPct val="115000"/>
                        </a:lnSpc>
                      </a:pPr>
                      <a:r>
                        <a:rPr sz="900" b="1">
                          <a:solidFill>
                            <a:srgbClr val="2E0A4F"/>
                          </a:solidFill>
                          <a:latin typeface="Calibri"/>
                        </a:rPr>
                        <a:t>Contradictory or stale source data</a:t>
                      </a:r>
                    </a:p>
                  </a:txBody>
                  <a:tcPr>
                    <a:solidFill>
                      <a:srgbClr val="FFFFFF"/>
                    </a:solidFill>
                  </a:tcPr>
                </a:tc>
                <a:tc>
                  <a:txBody>
                    <a:bodyPr/>
                    <a:lstStyle/>
                    <a:p>
                      <a:pPr>
                        <a:lnSpc>
                          <a:spcPct val="115000"/>
                        </a:lnSpc>
                      </a:pPr>
                      <a:r>
                        <a:rPr sz="900" b="0">
                          <a:solidFill>
                            <a:srgbClr val="1D1D1F"/>
                          </a:solidFill>
                          <a:latin typeface="Calibri"/>
                        </a:rPr>
                        <a:t>A reconciliation layer, plus abstention on contradiction and on a genuinely missing feed. Data freshness is reported in telemetry.</a:t>
                      </a:r>
                    </a:p>
                  </a:txBody>
                  <a:tcPr>
                    <a:solidFill>
                      <a:srgbClr val="FFFFFF"/>
                    </a:solidFill>
                  </a:tcPr>
                </a:tc>
              </a:tr>
              <a:tr h="679268">
                <a:tc>
                  <a:txBody>
                    <a:bodyPr/>
                    <a:lstStyle/>
                    <a:p>
                      <a:pPr>
                        <a:lnSpc>
                          <a:spcPct val="115000"/>
                        </a:lnSpc>
                      </a:pPr>
                      <a:r>
                        <a:rPr sz="900" b="1">
                          <a:solidFill>
                            <a:srgbClr val="2E0A4F"/>
                          </a:solidFill>
                          <a:latin typeface="Calibri"/>
                        </a:rPr>
                        <a:t>A role sees restricted data (entitlement leak)</a:t>
                      </a:r>
                    </a:p>
                  </a:txBody>
                  <a:tcPr>
                    <a:solidFill>
                      <a:srgbClr val="F4EEFB"/>
                    </a:solidFill>
                  </a:tcPr>
                </a:tc>
                <a:tc>
                  <a:txBody>
                    <a:bodyPr/>
                    <a:lstStyle/>
                    <a:p>
                      <a:pPr>
                        <a:lnSpc>
                          <a:spcPct val="115000"/>
                        </a:lnSpc>
                      </a:pPr>
                      <a:r>
                        <a:rPr sz="900" b="0">
                          <a:solidFill>
                            <a:srgbClr val="1D1D1F"/>
                          </a:solidFill>
                          <a:latin typeface="Calibri"/>
                        </a:rPr>
                        <a:t>Masking is enforced server-side. Ten automated tests assert removal from the payload, including an identifier embedded in a compound key and dollar figures narrated in free text.</a:t>
                      </a:r>
                    </a:p>
                  </a:txBody>
                  <a:tcPr>
                    <a:solidFill>
                      <a:srgbClr val="F4EEFB"/>
                    </a:solidFill>
                  </a:tcPr>
                </a:tc>
              </a:tr>
              <a:tr h="679272">
                <a:tc>
                  <a:txBody>
                    <a:bodyPr/>
                    <a:lstStyle/>
                    <a:p>
                      <a:pPr>
                        <a:lnSpc>
                          <a:spcPct val="115000"/>
                        </a:lnSpc>
                      </a:pPr>
                      <a:r>
                        <a:rPr sz="900" b="1">
                          <a:solidFill>
                            <a:srgbClr val="2E0A4F"/>
                          </a:solidFill>
                          <a:latin typeface="Calibri"/>
                        </a:rPr>
                        <a:t>Cost or latency growth under load</a:t>
                      </a:r>
                    </a:p>
                  </a:txBody>
                  <a:tcPr>
                    <a:solidFill>
                      <a:srgbClr val="FFFFFF"/>
                    </a:solidFill>
                  </a:tcPr>
                </a:tc>
                <a:tc>
                  <a:txBody>
                    <a:bodyPr/>
                    <a:lstStyle/>
                    <a:p>
                      <a:pPr>
                        <a:lnSpc>
                          <a:spcPct val="115000"/>
                        </a:lnSpc>
                      </a:pPr>
                      <a:r>
                        <a:rPr sz="900" b="0">
                          <a:solidFill>
                            <a:srgbClr val="1D1D1F"/>
                          </a:solidFill>
                          <a:latin typeface="Calibri"/>
                        </a:rPr>
                        <a:t>The live path makes no model calls. The assistant is opt-in, one call per question, free-tier by default, with every token measured.</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640080"/>
          </a:xfrm>
          <a:prstGeom prst="rect">
            <a:avLst/>
          </a:prstGeom>
          <a:noFill/>
        </p:spPr>
        <p:txBody>
          <a:bodyPr wrap="square" anchor="t">
            <a:spAutoFit/>
          </a:bodyPr>
          <a:lstStyle/>
          <a:p>
            <a:pPr algn="l">
              <a:lnSpc>
                <a:spcPct val="115000"/>
              </a:lnSpc>
            </a:pPr>
            <a:r>
              <a:rPr sz="2400" b="1" i="0">
                <a:solidFill>
                  <a:srgbClr val="1D1D1F"/>
                </a:solidFill>
                <a:latin typeface="Calibri"/>
              </a:rPr>
              <a:t>Video</a:t>
            </a:r>
          </a:p>
        </p:txBody>
      </p:sp>
      <p:sp>
        <p:nvSpPr>
          <p:cNvPr id="5" name="TextBox 4"/>
          <p:cNvSpPr txBox="1"/>
          <p:nvPr/>
        </p:nvSpPr>
        <p:spPr>
          <a:xfrm>
            <a:off x="502920" y="6419088"/>
            <a:ext cx="8229600" cy="320040"/>
          </a:xfrm>
          <a:prstGeom prst="rect">
            <a:avLst/>
          </a:prstGeom>
          <a:noFill/>
        </p:spPr>
        <p:txBody>
          <a:bodyPr wrap="square" anchor="t">
            <a:spAutoFit/>
          </a:bodyPr>
          <a:lstStyle/>
          <a:p>
            <a:pPr algn="l">
              <a:lnSpc>
                <a:spcPct val="115000"/>
              </a:lnSpc>
            </a:pPr>
            <a:r>
              <a:rPr sz="800" b="0" i="0">
                <a:solidFill>
                  <a:srgbClr val="5B5B60"/>
                </a:solidFill>
                <a:latin typeface="Calibri"/>
              </a:rPr>
              <a:t>Copyright © 2026 Accenture. All rights reserved.</a:t>
            </a:r>
          </a:p>
        </p:txBody>
      </p:sp>
      <p:sp>
        <p:nvSpPr>
          <p:cNvPr id="6" name="TextBox 5"/>
          <p:cNvSpPr txBox="1"/>
          <p:nvPr/>
        </p:nvSpPr>
        <p:spPr>
          <a:xfrm>
            <a:off x="11155680" y="6419088"/>
            <a:ext cx="548640" cy="320040"/>
          </a:xfrm>
          <a:prstGeom prst="rect">
            <a:avLst/>
          </a:prstGeom>
          <a:noFill/>
        </p:spPr>
        <p:txBody>
          <a:bodyPr wrap="square" anchor="t">
            <a:spAutoFit/>
          </a:bodyPr>
          <a:lstStyle/>
          <a:p>
            <a:pPr algn="r">
              <a:lnSpc>
                <a:spcPct val="115000"/>
              </a:lnSpc>
            </a:pPr>
            <a:r>
              <a:rPr sz="800" b="0" i="0">
                <a:solidFill>
                  <a:srgbClr val="5B5B60"/>
                </a:solidFill>
                <a:latin typeface="Calibri"/>
              </a:rPr>
              <a:t>11</a:t>
            </a:r>
          </a:p>
        </p:txBody>
      </p:sp>
      <p:sp>
        <p:nvSpPr>
          <p:cNvPr id="7" name="TextBox 6"/>
          <p:cNvSpPr txBox="1"/>
          <p:nvPr/>
        </p:nvSpPr>
        <p:spPr>
          <a:xfrm>
            <a:off x="731520" y="1371600"/>
            <a:ext cx="10881360" cy="4754880"/>
          </a:xfrm>
          <a:prstGeom prst="rect">
            <a:avLst/>
          </a:prstGeom>
          <a:noFill/>
        </p:spPr>
        <p:txBody>
          <a:bodyPr wrap="square" anchor="t">
            <a:spAutoFit/>
          </a:bodyPr>
          <a:lstStyle/>
          <a:p>
            <a:pPr algn="l">
              <a:lnSpc>
                <a:spcPct val="145000"/>
              </a:lnSpc>
            </a:pPr>
            <a:r>
              <a:rPr sz="1300" b="0" i="0">
                <a:solidFill>
                  <a:srgbClr val="1D1D1F"/>
                </a:solidFill>
                <a:latin typeface="Calibri"/>
              </a:rPr>
              <a:t>Prototype walkthrough :  add public link (YouTube or Google Drive) before submission</a:t>
            </a:r>
          </a:p>
          <a:p>
            <a:pPr algn="l">
              <a:lnSpc>
                <a:spcPct val="145000"/>
              </a:lnSpc>
            </a:pPr>
            <a:r>
              <a:rPr sz="1300" b="0" i="0">
                <a:solidFill>
                  <a:srgbClr val="1D1D1F"/>
                </a:solidFill>
                <a:latin typeface="Calibri"/>
              </a:rPr>
              <a:t/>
            </a:r>
          </a:p>
          <a:p>
            <a:pPr algn="l">
              <a:lnSpc>
                <a:spcPct val="145000"/>
              </a:lnSpc>
            </a:pPr>
            <a:r>
              <a:rPr sz="1300" b="0" i="0">
                <a:solidFill>
                  <a:srgbClr val="1D1D1F"/>
                </a:solidFill>
                <a:latin typeface="Calibri"/>
              </a:rPr>
              <a:t>The walkthrough covers, in order: scenario load; the revenue trajectory chart with every series anomaly annotated; the evidence trail and the anomaly-centric knowledge graph; a live role switch that visibly changes field masking; the conversational assistant (a grounded answer, a clarification that makes no model call, and an abstention); approving and assigning an action with an audit identifier; and the runtime telemetry panel.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0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651760"/>
            <a:ext cx="11277295" cy="1280160"/>
          </a:xfrm>
          <a:prstGeom prst="rect">
            <a:avLst/>
          </a:prstGeom>
          <a:noFill/>
        </p:spPr>
        <p:txBody>
          <a:bodyPr wrap="square" anchor="t">
            <a:spAutoFit/>
          </a:bodyPr>
          <a:lstStyle/>
          <a:p>
            <a:pPr algn="ctr">
              <a:lnSpc>
                <a:spcPct val="115000"/>
              </a:lnSpc>
            </a:pPr>
            <a:r>
              <a:rPr sz="4400" b="1" i="0">
                <a:solidFill>
                  <a:srgbClr val="FFFFFF"/>
                </a:solidFill>
                <a:latin typeface="Calibri"/>
              </a:rPr>
              <a:t>Thank you</a:t>
            </a:r>
          </a:p>
        </p:txBody>
      </p:sp>
      <p:sp>
        <p:nvSpPr>
          <p:cNvPr id="5" name="TextBox 4"/>
          <p:cNvSpPr txBox="1"/>
          <p:nvPr/>
        </p:nvSpPr>
        <p:spPr>
          <a:xfrm>
            <a:off x="457200" y="4023360"/>
            <a:ext cx="11277295" cy="548640"/>
          </a:xfrm>
          <a:prstGeom prst="rect">
            <a:avLst/>
          </a:prstGeom>
          <a:noFill/>
        </p:spPr>
        <p:txBody>
          <a:bodyPr wrap="square" anchor="t">
            <a:spAutoFit/>
          </a:bodyPr>
          <a:lstStyle/>
          <a:p>
            <a:pPr algn="ctr">
              <a:lnSpc>
                <a:spcPct val="115000"/>
              </a:lnSpc>
            </a:pPr>
            <a:r>
              <a:rPr sz="1300" b="0" i="0">
                <a:solidFill>
                  <a:srgbClr val="EAD9FA"/>
                </a:solidFill>
                <a:latin typeface="Calibri"/>
              </a:rPr>
              <a:t>Team Stack Overflowed  —  IIT Madras   |   Track 3 : BusinessIntelligence.ai</a:t>
            </a:r>
          </a:p>
        </p:txBody>
      </p:sp>
      <p:sp>
        <p:nvSpPr>
          <p:cNvPr id="6" name="TextBox 5"/>
          <p:cNvSpPr txBox="1"/>
          <p:nvPr/>
        </p:nvSpPr>
        <p:spPr>
          <a:xfrm>
            <a:off x="457200" y="6126480"/>
            <a:ext cx="11277295" cy="365760"/>
          </a:xfrm>
          <a:prstGeom prst="rect">
            <a:avLst/>
          </a:prstGeom>
          <a:noFill/>
        </p:spPr>
        <p:txBody>
          <a:bodyPr wrap="square" anchor="t">
            <a:spAutoFit/>
          </a:bodyPr>
          <a:lstStyle/>
          <a:p>
            <a:pPr algn="ctr">
              <a:lnSpc>
                <a:spcPct val="115000"/>
              </a:lnSpc>
            </a:pPr>
            <a:r>
              <a:rPr sz="900" b="0" i="0">
                <a:solidFill>
                  <a:srgbClr val="B79AD6"/>
                </a:solidFill>
                <a:latin typeface="Calibri"/>
              </a:rPr>
              <a:t>Copyright © 2026 Accenture.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